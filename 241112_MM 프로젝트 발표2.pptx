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70" r:id="rId6"/>
    <p:sldId id="269" r:id="rId7"/>
    <p:sldId id="271" r:id="rId8"/>
    <p:sldId id="272" r:id="rId9"/>
    <p:sldId id="274" r:id="rId10"/>
    <p:sldId id="273" r:id="rId11"/>
    <p:sldId id="263" r:id="rId1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441A7E-52B3-4A8C-BDD5-A5757A271E18}" v="29" dt="2024-09-23T14:31:22.724"/>
    <p1510:client id="{62E10AE2-AF50-4B99-A19E-A8C6A8F4CA61}" v="13" dt="2024-09-23T11:47:07.44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720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효원 조" userId="bc6a08bd60ab1b8f" providerId="LiveId" clId="{1C441A7E-52B3-4A8C-BDD5-A5757A271E18}"/>
    <pc:docChg chg="custSel addSld delSld modSld">
      <pc:chgData name="효원 조" userId="bc6a08bd60ab1b8f" providerId="LiveId" clId="{1C441A7E-52B3-4A8C-BDD5-A5757A271E18}" dt="2024-09-23T14:34:20.537" v="2693" actId="20577"/>
      <pc:docMkLst>
        <pc:docMk/>
      </pc:docMkLst>
      <pc:sldChg chg="modSp mod">
        <pc:chgData name="효원 조" userId="bc6a08bd60ab1b8f" providerId="LiveId" clId="{1C441A7E-52B3-4A8C-BDD5-A5757A271E18}" dt="2024-09-23T14:10:32.079" v="2439" actId="20577"/>
        <pc:sldMkLst>
          <pc:docMk/>
          <pc:sldMk cId="0" sldId="256"/>
        </pc:sldMkLst>
        <pc:spChg chg="mod">
          <ac:chgData name="효원 조" userId="bc6a08bd60ab1b8f" providerId="LiveId" clId="{1C441A7E-52B3-4A8C-BDD5-A5757A271E18}" dt="2024-09-23T14:10:32.079" v="2439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효원 조" userId="bc6a08bd60ab1b8f" providerId="LiveId" clId="{1C441A7E-52B3-4A8C-BDD5-A5757A271E18}" dt="2024-09-23T13:31:09.592" v="17" actId="20577"/>
          <ac:spMkLst>
            <pc:docMk/>
            <pc:sldMk cId="0" sldId="256"/>
            <ac:spMk id="4" creationId="{00000000-0000-0000-0000-000000000000}"/>
          </ac:spMkLst>
        </pc:spChg>
      </pc:sldChg>
      <pc:sldChg chg="addSp modSp mod">
        <pc:chgData name="효원 조" userId="bc6a08bd60ab1b8f" providerId="LiveId" clId="{1C441A7E-52B3-4A8C-BDD5-A5757A271E18}" dt="2024-09-23T13:36:58.634" v="222" actId="20577"/>
        <pc:sldMkLst>
          <pc:docMk/>
          <pc:sldMk cId="0" sldId="258"/>
        </pc:sldMkLst>
        <pc:spChg chg="add mod">
          <ac:chgData name="효원 조" userId="bc6a08bd60ab1b8f" providerId="LiveId" clId="{1C441A7E-52B3-4A8C-BDD5-A5757A271E18}" dt="2024-09-23T13:36:58.634" v="222" actId="20577"/>
          <ac:spMkLst>
            <pc:docMk/>
            <pc:sldMk cId="0" sldId="258"/>
            <ac:spMk id="7" creationId="{89E78799-D439-8F2F-5B42-90ACA2C99062}"/>
          </ac:spMkLst>
        </pc:spChg>
      </pc:sldChg>
      <pc:sldChg chg="addSp delSp modSp mod">
        <pc:chgData name="효원 조" userId="bc6a08bd60ab1b8f" providerId="LiveId" clId="{1C441A7E-52B3-4A8C-BDD5-A5757A271E18}" dt="2024-09-23T14:01:59.687" v="1630" actId="478"/>
        <pc:sldMkLst>
          <pc:docMk/>
          <pc:sldMk cId="0" sldId="259"/>
        </pc:sldMkLst>
        <pc:picChg chg="del">
          <ac:chgData name="효원 조" userId="bc6a08bd60ab1b8f" providerId="LiveId" clId="{1C441A7E-52B3-4A8C-BDD5-A5757A271E18}" dt="2024-09-23T13:57:26.757" v="1618" actId="478"/>
          <ac:picMkLst>
            <pc:docMk/>
            <pc:sldMk cId="0" sldId="259"/>
            <ac:picMk id="11" creationId="{246080AF-AEED-55D4-C7DC-41CFA7026B03}"/>
          </ac:picMkLst>
        </pc:picChg>
        <pc:picChg chg="add mod">
          <ac:chgData name="효원 조" userId="bc6a08bd60ab1b8f" providerId="LiveId" clId="{1C441A7E-52B3-4A8C-BDD5-A5757A271E18}" dt="2024-09-23T13:57:34.111" v="1621" actId="1076"/>
          <ac:picMkLst>
            <pc:docMk/>
            <pc:sldMk cId="0" sldId="259"/>
            <ac:picMk id="2050" creationId="{0953D884-B948-1C84-2B63-46F4AF632D0C}"/>
          </ac:picMkLst>
        </pc:picChg>
        <pc:picChg chg="add del mod">
          <ac:chgData name="효원 조" userId="bc6a08bd60ab1b8f" providerId="LiveId" clId="{1C441A7E-52B3-4A8C-BDD5-A5757A271E18}" dt="2024-09-23T14:01:59.687" v="1630" actId="478"/>
          <ac:picMkLst>
            <pc:docMk/>
            <pc:sldMk cId="0" sldId="259"/>
            <ac:picMk id="2052" creationId="{6886F79A-3B88-2893-374C-19616F0B1C60}"/>
          </ac:picMkLst>
        </pc:picChg>
      </pc:sldChg>
      <pc:sldChg chg="addSp delSp modSp mod modNotesTx">
        <pc:chgData name="효원 조" userId="bc6a08bd60ab1b8f" providerId="LiveId" clId="{1C441A7E-52B3-4A8C-BDD5-A5757A271E18}" dt="2024-09-23T14:07:49.111" v="2436" actId="14100"/>
        <pc:sldMkLst>
          <pc:docMk/>
          <pc:sldMk cId="2408964362" sldId="260"/>
        </pc:sldMkLst>
        <pc:spChg chg="mod">
          <ac:chgData name="효원 조" userId="bc6a08bd60ab1b8f" providerId="LiveId" clId="{1C441A7E-52B3-4A8C-BDD5-A5757A271E18}" dt="2024-09-23T13:39:26.130" v="268" actId="20577"/>
          <ac:spMkLst>
            <pc:docMk/>
            <pc:sldMk cId="2408964362" sldId="260"/>
            <ac:spMk id="3" creationId="{00000000-0000-0000-0000-000000000000}"/>
          </ac:spMkLst>
        </pc:spChg>
        <pc:spChg chg="mod">
          <ac:chgData name="효원 조" userId="bc6a08bd60ab1b8f" providerId="LiveId" clId="{1C441A7E-52B3-4A8C-BDD5-A5757A271E18}" dt="2024-09-23T14:07:49.111" v="2436" actId="14100"/>
          <ac:spMkLst>
            <pc:docMk/>
            <pc:sldMk cId="2408964362" sldId="260"/>
            <ac:spMk id="8" creationId="{849C194B-5B0C-B9DC-57FC-C6106E3D6D09}"/>
          </ac:spMkLst>
        </pc:spChg>
        <pc:spChg chg="mod">
          <ac:chgData name="효원 조" userId="bc6a08bd60ab1b8f" providerId="LiveId" clId="{1C441A7E-52B3-4A8C-BDD5-A5757A271E18}" dt="2024-09-23T14:04:39.446" v="1677" actId="1076"/>
          <ac:spMkLst>
            <pc:docMk/>
            <pc:sldMk cId="2408964362" sldId="260"/>
            <ac:spMk id="9" creationId="{CF7FFCC4-1E5D-53FC-EE42-B8B822369F3A}"/>
          </ac:spMkLst>
        </pc:spChg>
        <pc:picChg chg="del">
          <ac:chgData name="효원 조" userId="bc6a08bd60ab1b8f" providerId="LiveId" clId="{1C441A7E-52B3-4A8C-BDD5-A5757A271E18}" dt="2024-09-23T13:37:47.897" v="223" actId="478"/>
          <ac:picMkLst>
            <pc:docMk/>
            <pc:sldMk cId="2408964362" sldId="260"/>
            <ac:picMk id="5" creationId="{E5B2ADB3-53B8-6BFD-A2A8-890B99D2146A}"/>
          </ac:picMkLst>
        </pc:picChg>
        <pc:picChg chg="mod">
          <ac:chgData name="효원 조" userId="bc6a08bd60ab1b8f" providerId="LiveId" clId="{1C441A7E-52B3-4A8C-BDD5-A5757A271E18}" dt="2024-09-23T14:04:18.573" v="1672" actId="1076"/>
          <ac:picMkLst>
            <pc:docMk/>
            <pc:sldMk cId="2408964362" sldId="260"/>
            <ac:picMk id="7" creationId="{BA5D96C5-A2EB-1A1C-1080-F6A5DDEABA31}"/>
          </ac:picMkLst>
        </pc:picChg>
        <pc:picChg chg="add mod">
          <ac:chgData name="효원 조" userId="bc6a08bd60ab1b8f" providerId="LiveId" clId="{1C441A7E-52B3-4A8C-BDD5-A5757A271E18}" dt="2024-09-23T13:59:47.091" v="1623" actId="1076"/>
          <ac:picMkLst>
            <pc:docMk/>
            <pc:sldMk cId="2408964362" sldId="260"/>
            <ac:picMk id="1026" creationId="{AD7165BE-94A1-0A07-8029-041A485107FD}"/>
          </ac:picMkLst>
        </pc:picChg>
        <pc:picChg chg="add mod">
          <ac:chgData name="효원 조" userId="bc6a08bd60ab1b8f" providerId="LiveId" clId="{1C441A7E-52B3-4A8C-BDD5-A5757A271E18}" dt="2024-09-23T13:59:54.887" v="1626" actId="1076"/>
          <ac:picMkLst>
            <pc:docMk/>
            <pc:sldMk cId="2408964362" sldId="260"/>
            <ac:picMk id="1028" creationId="{61CCD3E3-851D-C6B3-C2D1-0989F3574F55}"/>
          </ac:picMkLst>
        </pc:picChg>
        <pc:picChg chg="add mod">
          <ac:chgData name="효원 조" userId="bc6a08bd60ab1b8f" providerId="LiveId" clId="{1C441A7E-52B3-4A8C-BDD5-A5757A271E18}" dt="2024-09-23T14:07:33.425" v="2392" actId="14100"/>
          <ac:picMkLst>
            <pc:docMk/>
            <pc:sldMk cId="2408964362" sldId="260"/>
            <ac:picMk id="1030" creationId="{2F6B0A30-D4B7-F03E-5A06-8EF3CD92A3F0}"/>
          </ac:picMkLst>
        </pc:picChg>
      </pc:sldChg>
      <pc:sldChg chg="addSp modSp mod modNotesTx">
        <pc:chgData name="효원 조" userId="bc6a08bd60ab1b8f" providerId="LiveId" clId="{1C441A7E-52B3-4A8C-BDD5-A5757A271E18}" dt="2024-09-23T13:44:30.254" v="679" actId="1076"/>
        <pc:sldMkLst>
          <pc:docMk/>
          <pc:sldMk cId="2440783993" sldId="261"/>
        </pc:sldMkLst>
        <pc:spChg chg="add mod">
          <ac:chgData name="효원 조" userId="bc6a08bd60ab1b8f" providerId="LiveId" clId="{1C441A7E-52B3-4A8C-BDD5-A5757A271E18}" dt="2024-09-23T13:41:49.623" v="337" actId="1076"/>
          <ac:spMkLst>
            <pc:docMk/>
            <pc:sldMk cId="2440783993" sldId="261"/>
            <ac:spMk id="5" creationId="{3807E647-BBD1-BFA3-197D-E9FC2E6F6734}"/>
          </ac:spMkLst>
        </pc:spChg>
        <pc:spChg chg="add mod">
          <ac:chgData name="효원 조" userId="bc6a08bd60ab1b8f" providerId="LiveId" clId="{1C441A7E-52B3-4A8C-BDD5-A5757A271E18}" dt="2024-09-23T13:44:30.254" v="679" actId="1076"/>
          <ac:spMkLst>
            <pc:docMk/>
            <pc:sldMk cId="2440783993" sldId="261"/>
            <ac:spMk id="8" creationId="{920315F3-E07A-92EB-7469-60A681196AAE}"/>
          </ac:spMkLst>
        </pc:spChg>
        <pc:picChg chg="add mod">
          <ac:chgData name="효원 조" userId="bc6a08bd60ab1b8f" providerId="LiveId" clId="{1C441A7E-52B3-4A8C-BDD5-A5757A271E18}" dt="2024-09-23T13:43:51.045" v="594" actId="1076"/>
          <ac:picMkLst>
            <pc:docMk/>
            <pc:sldMk cId="2440783993" sldId="261"/>
            <ac:picMk id="7" creationId="{E9AACCF4-7528-2A81-CF5B-2DBBE4B0D1D5}"/>
          </ac:picMkLst>
        </pc:picChg>
      </pc:sldChg>
      <pc:sldChg chg="modNotesTx">
        <pc:chgData name="효원 조" userId="bc6a08bd60ab1b8f" providerId="LiveId" clId="{1C441A7E-52B3-4A8C-BDD5-A5757A271E18}" dt="2024-09-23T13:54:58.973" v="1613" actId="20577"/>
        <pc:sldMkLst>
          <pc:docMk/>
          <pc:sldMk cId="2104177587" sldId="262"/>
        </pc:sldMkLst>
      </pc:sldChg>
      <pc:sldChg chg="modSp mod">
        <pc:chgData name="효원 조" userId="bc6a08bd60ab1b8f" providerId="LiveId" clId="{1C441A7E-52B3-4A8C-BDD5-A5757A271E18}" dt="2024-09-23T13:55:14.065" v="1617" actId="20577"/>
        <pc:sldMkLst>
          <pc:docMk/>
          <pc:sldMk cId="3287760024" sldId="263"/>
        </pc:sldMkLst>
        <pc:spChg chg="mod">
          <ac:chgData name="효원 조" userId="bc6a08bd60ab1b8f" providerId="LiveId" clId="{1C441A7E-52B3-4A8C-BDD5-A5757A271E18}" dt="2024-09-23T13:55:14.065" v="1617" actId="20577"/>
          <ac:spMkLst>
            <pc:docMk/>
            <pc:sldMk cId="3287760024" sldId="263"/>
            <ac:spMk id="3" creationId="{00000000-0000-0000-0000-000000000000}"/>
          </ac:spMkLst>
        </pc:spChg>
      </pc:sldChg>
      <pc:sldChg chg="addSp delSp modSp add mod modNotesTx">
        <pc:chgData name="효원 조" userId="bc6a08bd60ab1b8f" providerId="LiveId" clId="{1C441A7E-52B3-4A8C-BDD5-A5757A271E18}" dt="2024-09-23T14:34:20.537" v="2693" actId="20577"/>
        <pc:sldMkLst>
          <pc:docMk/>
          <pc:sldMk cId="453315871" sldId="264"/>
        </pc:sldMkLst>
        <pc:spChg chg="mod">
          <ac:chgData name="효원 조" userId="bc6a08bd60ab1b8f" providerId="LiveId" clId="{1C441A7E-52B3-4A8C-BDD5-A5757A271E18}" dt="2024-09-23T14:32:14.038" v="2550" actId="20577"/>
          <ac:spMkLst>
            <pc:docMk/>
            <pc:sldMk cId="453315871" sldId="264"/>
            <ac:spMk id="2" creationId="{00000000-0000-0000-0000-000000000000}"/>
          </ac:spMkLst>
        </pc:spChg>
        <pc:spChg chg="del">
          <ac:chgData name="효원 조" userId="bc6a08bd60ab1b8f" providerId="LiveId" clId="{1C441A7E-52B3-4A8C-BDD5-A5757A271E18}" dt="2024-09-23T14:30:04.178" v="2443" actId="478"/>
          <ac:spMkLst>
            <pc:docMk/>
            <pc:sldMk cId="453315871" sldId="264"/>
            <ac:spMk id="3" creationId="{00000000-0000-0000-0000-000000000000}"/>
          </ac:spMkLst>
        </pc:spChg>
        <pc:spChg chg="del">
          <ac:chgData name="효원 조" userId="bc6a08bd60ab1b8f" providerId="LiveId" clId="{1C441A7E-52B3-4A8C-BDD5-A5757A271E18}" dt="2024-09-23T14:30:04.178" v="2443" actId="478"/>
          <ac:spMkLst>
            <pc:docMk/>
            <pc:sldMk cId="453315871" sldId="264"/>
            <ac:spMk id="4" creationId="{F8BD761B-CC37-1804-2CF9-4BB172540826}"/>
          </ac:spMkLst>
        </pc:spChg>
        <pc:spChg chg="del">
          <ac:chgData name="효원 조" userId="bc6a08bd60ab1b8f" providerId="LiveId" clId="{1C441A7E-52B3-4A8C-BDD5-A5757A271E18}" dt="2024-09-23T14:30:01.536" v="2442" actId="478"/>
          <ac:spMkLst>
            <pc:docMk/>
            <pc:sldMk cId="453315871" sldId="264"/>
            <ac:spMk id="5" creationId="{3807E647-BBD1-BFA3-197D-E9FC2E6F6734}"/>
          </ac:spMkLst>
        </pc:spChg>
        <pc:spChg chg="del">
          <ac:chgData name="효원 조" userId="bc6a08bd60ab1b8f" providerId="LiveId" clId="{1C441A7E-52B3-4A8C-BDD5-A5757A271E18}" dt="2024-09-23T14:30:01.536" v="2442" actId="478"/>
          <ac:spMkLst>
            <pc:docMk/>
            <pc:sldMk cId="453315871" sldId="264"/>
            <ac:spMk id="8" creationId="{920315F3-E07A-92EB-7469-60A681196AAE}"/>
          </ac:spMkLst>
        </pc:spChg>
        <pc:spChg chg="add del mod">
          <ac:chgData name="효원 조" userId="bc6a08bd60ab1b8f" providerId="LiveId" clId="{1C441A7E-52B3-4A8C-BDD5-A5757A271E18}" dt="2024-09-23T14:32:17.183" v="2551" actId="478"/>
          <ac:spMkLst>
            <pc:docMk/>
            <pc:sldMk cId="453315871" sldId="264"/>
            <ac:spMk id="10" creationId="{D41ABBA1-1AC2-1033-8E9C-1FBD6C9E8A28}"/>
          </ac:spMkLst>
        </pc:spChg>
        <pc:picChg chg="del">
          <ac:chgData name="효원 조" userId="bc6a08bd60ab1b8f" providerId="LiveId" clId="{1C441A7E-52B3-4A8C-BDD5-A5757A271E18}" dt="2024-09-23T14:30:01.536" v="2442" actId="478"/>
          <ac:picMkLst>
            <pc:docMk/>
            <pc:sldMk cId="453315871" sldId="264"/>
            <ac:picMk id="7" creationId="{E9AACCF4-7528-2A81-CF5B-2DBBE4B0D1D5}"/>
          </ac:picMkLst>
        </pc:picChg>
        <pc:picChg chg="add mod">
          <ac:chgData name="효원 조" userId="bc6a08bd60ab1b8f" providerId="LiveId" clId="{1C441A7E-52B3-4A8C-BDD5-A5757A271E18}" dt="2024-09-23T14:34:00.848" v="2569" actId="1076"/>
          <ac:picMkLst>
            <pc:docMk/>
            <pc:sldMk cId="453315871" sldId="264"/>
            <ac:picMk id="9" creationId="{04FA460A-422A-55D4-D86C-ECBD2FEA31F7}"/>
          </ac:picMkLst>
        </pc:picChg>
        <pc:picChg chg="add mod modCrop">
          <ac:chgData name="효원 조" userId="bc6a08bd60ab1b8f" providerId="LiveId" clId="{1C441A7E-52B3-4A8C-BDD5-A5757A271E18}" dt="2024-09-23T14:33:15.689" v="2559" actId="1076"/>
          <ac:picMkLst>
            <pc:docMk/>
            <pc:sldMk cId="453315871" sldId="264"/>
            <ac:picMk id="12" creationId="{3478B120-1595-B0AF-BCA1-91297C418205}"/>
          </ac:picMkLst>
        </pc:picChg>
        <pc:picChg chg="add mod">
          <ac:chgData name="효원 조" userId="bc6a08bd60ab1b8f" providerId="LiveId" clId="{1C441A7E-52B3-4A8C-BDD5-A5757A271E18}" dt="2024-09-23T14:33:17.734" v="2560" actId="1076"/>
          <ac:picMkLst>
            <pc:docMk/>
            <pc:sldMk cId="453315871" sldId="264"/>
            <ac:picMk id="14" creationId="{0449A263-9529-4897-EB2D-58BD6997A11D}"/>
          </ac:picMkLst>
        </pc:picChg>
        <pc:picChg chg="add mod">
          <ac:chgData name="효원 조" userId="bc6a08bd60ab1b8f" providerId="LiveId" clId="{1C441A7E-52B3-4A8C-BDD5-A5757A271E18}" dt="2024-09-23T14:33:59.627" v="2568" actId="1076"/>
          <ac:picMkLst>
            <pc:docMk/>
            <pc:sldMk cId="453315871" sldId="264"/>
            <ac:picMk id="16" creationId="{EAF75BDE-3E88-D4D0-7721-FB8658FFA7EB}"/>
          </ac:picMkLst>
        </pc:picChg>
      </pc:sldChg>
      <pc:sldChg chg="delSp modSp add del mod">
        <pc:chgData name="효원 조" userId="bc6a08bd60ab1b8f" providerId="LiveId" clId="{1C441A7E-52B3-4A8C-BDD5-A5757A271E18}" dt="2024-09-23T14:08:19.654" v="2437" actId="2696"/>
        <pc:sldMkLst>
          <pc:docMk/>
          <pc:sldMk cId="4271007156" sldId="264"/>
        </pc:sldMkLst>
        <pc:spChg chg="mod">
          <ac:chgData name="효원 조" userId="bc6a08bd60ab1b8f" providerId="LiveId" clId="{1C441A7E-52B3-4A8C-BDD5-A5757A271E18}" dt="2024-09-23T13:44:51.727" v="718" actId="20577"/>
          <ac:spMkLst>
            <pc:docMk/>
            <pc:sldMk cId="4271007156" sldId="264"/>
            <ac:spMk id="2" creationId="{00000000-0000-0000-0000-000000000000}"/>
          </ac:spMkLst>
        </pc:spChg>
        <pc:spChg chg="del">
          <ac:chgData name="효원 조" userId="bc6a08bd60ab1b8f" providerId="LiveId" clId="{1C441A7E-52B3-4A8C-BDD5-A5757A271E18}" dt="2024-09-23T13:44:53.416" v="719" actId="478"/>
          <ac:spMkLst>
            <pc:docMk/>
            <pc:sldMk cId="4271007156" sldId="264"/>
            <ac:spMk id="5" creationId="{3807E647-BBD1-BFA3-197D-E9FC2E6F6734}"/>
          </ac:spMkLst>
        </pc:spChg>
        <pc:spChg chg="del">
          <ac:chgData name="효원 조" userId="bc6a08bd60ab1b8f" providerId="LiveId" clId="{1C441A7E-52B3-4A8C-BDD5-A5757A271E18}" dt="2024-09-23T13:44:53.416" v="719" actId="478"/>
          <ac:spMkLst>
            <pc:docMk/>
            <pc:sldMk cId="4271007156" sldId="264"/>
            <ac:spMk id="8" creationId="{920315F3-E07A-92EB-7469-60A681196AAE}"/>
          </ac:spMkLst>
        </pc:spChg>
        <pc:picChg chg="del">
          <ac:chgData name="효원 조" userId="bc6a08bd60ab1b8f" providerId="LiveId" clId="{1C441A7E-52B3-4A8C-BDD5-A5757A271E18}" dt="2024-09-23T13:44:53.416" v="719" actId="478"/>
          <ac:picMkLst>
            <pc:docMk/>
            <pc:sldMk cId="4271007156" sldId="264"/>
            <ac:picMk id="7" creationId="{E9AACCF4-7528-2A81-CF5B-2DBBE4B0D1D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60FB84-9BA5-4677-8965-30DB32C4F93B}" type="datetimeFigureOut">
              <a:rPr lang="ko-KR" altLang="en-US" smtClean="0"/>
              <a:t>2024-11-11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3989A-C7BE-44C9-92F1-C2D2B5232C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192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6059D-CC7C-03FD-3173-96D47B2CF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43373A-138C-EDC0-46AE-463A4F12C4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D91E92-2DCD-13A7-398D-B0C051F72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목표</a:t>
            </a:r>
            <a:r>
              <a:rPr lang="en-US" altLang="ko-KR" dirty="0"/>
              <a:t>:</a:t>
            </a:r>
            <a:r>
              <a:rPr lang="ko-KR" altLang="en-US" dirty="0"/>
              <a:t> 발화 데이터에서의 감정 분석을 통한 음악 검색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4500B3-F0DB-3E47-F305-3CAE871BF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3989A-C7BE-44C9-92F1-C2D2B5232CD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163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7197A-B8BB-7E0B-F950-B24C44970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912BE2-7E16-DA04-F64D-8E0E30EC5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55BB05-FF2D-433E-FE6D-892146452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08EC62-B92B-552B-C7A4-D45D4D443B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3989A-C7BE-44C9-92F1-C2D2B5232CD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8542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3989A-C7BE-44C9-92F1-C2D2B5232CD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2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74993-5DE5-D30D-722A-3593F2B0C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19EBB4-65B1-46CF-3DC9-14FEE4F3E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73EE02-F8A0-860E-01A5-17B616E61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868663-4607-5780-0795-3CF7AED426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3989A-C7BE-44C9-92F1-C2D2B5232CD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8379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46FDB-A3F9-BE5E-97F4-7525CF4C9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BFE41D-D2EA-6A20-FC6B-7DDAB6D13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7C4EF7-2030-395C-2B9A-CC0983CF3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BB6991-DEAB-E7A2-56D2-FAECFE9B05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3989A-C7BE-44C9-92F1-C2D2B5232CD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386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ECBCA-4BC0-8734-2B52-6E2A89A9D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C6227A-9C5E-2E7D-2BF4-D3840E1D2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B08037-F5F5-D01A-C835-F8EC8CF48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CEAF39-907E-6D8A-D371-71D6281B6B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3989A-C7BE-44C9-92F1-C2D2B5232CD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221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23CA6-C2BC-F03D-1C07-2CF66F10D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E304C6-48FD-BFEF-1931-86D690A60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EE747C-79E3-1579-EA09-074A07559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4AD6F7-728F-431D-5144-3D54C78E7F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3989A-C7BE-44C9-92F1-C2D2B5232CD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98055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986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81100" cy="5143500"/>
          </a:xfrm>
          <a:custGeom>
            <a:avLst/>
            <a:gdLst/>
            <a:ahLst/>
            <a:cxnLst/>
            <a:rect l="l" t="t" r="r" b="b"/>
            <a:pathLst>
              <a:path w="1181100" h="5143500">
                <a:moveTo>
                  <a:pt x="0" y="5143498"/>
                </a:moveTo>
                <a:lnTo>
                  <a:pt x="1181100" y="5143498"/>
                </a:lnTo>
                <a:lnTo>
                  <a:pt x="1181100" y="0"/>
                </a:lnTo>
                <a:lnTo>
                  <a:pt x="0" y="0"/>
                </a:lnTo>
                <a:lnTo>
                  <a:pt x="0" y="5143498"/>
                </a:lnTo>
                <a:close/>
              </a:path>
            </a:pathLst>
          </a:custGeom>
          <a:solidFill>
            <a:srgbClr val="1825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  <p:extLst>
      <p:ext uri="{BB962C8B-B14F-4D97-AF65-F5344CB8AC3E}">
        <p14:creationId xmlns:p14="http://schemas.microsoft.com/office/powerpoint/2010/main" val="1807774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  <p:extLst>
      <p:ext uri="{BB962C8B-B14F-4D97-AF65-F5344CB8AC3E}">
        <p14:creationId xmlns:p14="http://schemas.microsoft.com/office/powerpoint/2010/main" val="666736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81100" cy="5143500"/>
          </a:xfrm>
          <a:custGeom>
            <a:avLst/>
            <a:gdLst/>
            <a:ahLst/>
            <a:cxnLst/>
            <a:rect l="l" t="t" r="r" b="b"/>
            <a:pathLst>
              <a:path w="1181100" h="5143500">
                <a:moveTo>
                  <a:pt x="0" y="5143498"/>
                </a:moveTo>
                <a:lnTo>
                  <a:pt x="1181100" y="5143498"/>
                </a:lnTo>
                <a:lnTo>
                  <a:pt x="1181100" y="0"/>
                </a:lnTo>
                <a:lnTo>
                  <a:pt x="0" y="0"/>
                </a:lnTo>
                <a:lnTo>
                  <a:pt x="0" y="5143498"/>
                </a:lnTo>
                <a:close/>
              </a:path>
            </a:pathLst>
          </a:custGeom>
          <a:solidFill>
            <a:srgbClr val="1825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3822" y="0"/>
            <a:ext cx="38100" cy="2149475"/>
          </a:xfrm>
          <a:custGeom>
            <a:avLst/>
            <a:gdLst/>
            <a:ahLst/>
            <a:cxnLst/>
            <a:rect l="l" t="t" r="r" b="b"/>
            <a:pathLst>
              <a:path w="38100" h="2149475">
                <a:moveTo>
                  <a:pt x="0" y="2149094"/>
                </a:moveTo>
                <a:lnTo>
                  <a:pt x="38100" y="2149094"/>
                </a:lnTo>
                <a:lnTo>
                  <a:pt x="38100" y="0"/>
                </a:lnTo>
                <a:lnTo>
                  <a:pt x="0" y="0"/>
                </a:lnTo>
                <a:lnTo>
                  <a:pt x="0" y="21490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2142998"/>
            <a:ext cx="1181087" cy="3000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76197" y="295401"/>
            <a:ext cx="5991605" cy="33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2450084"/>
            <a:ext cx="1206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맑은 고딕"/>
                <a:cs typeface="맑은 고딕"/>
              </a:rPr>
              <a:t>T</a:t>
            </a:r>
            <a:endParaRPr sz="140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18589" y="2712077"/>
            <a:ext cx="4067811" cy="754053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500" b="1" dirty="0">
                <a:solidFill>
                  <a:srgbClr val="18254A"/>
                </a:solidFill>
                <a:latin typeface="맑은 고딕"/>
                <a:cs typeface="맑은 고딕"/>
              </a:rPr>
              <a:t>CUAI</a:t>
            </a:r>
            <a:r>
              <a:rPr sz="2500" b="1" spc="-45" dirty="0">
                <a:solidFill>
                  <a:srgbClr val="18254A"/>
                </a:solidFill>
                <a:latin typeface="맑은 고딕"/>
                <a:cs typeface="맑은 고딕"/>
              </a:rPr>
              <a:t> </a:t>
            </a:r>
            <a:r>
              <a:rPr lang="en-US" sz="2500" b="1" spc="-45" dirty="0">
                <a:solidFill>
                  <a:srgbClr val="18254A"/>
                </a:solidFill>
                <a:latin typeface="맑은 고딕"/>
                <a:cs typeface="맑은 고딕"/>
              </a:rPr>
              <a:t>MM</a:t>
            </a:r>
            <a:r>
              <a:rPr sz="2500" b="1" spc="-70" dirty="0">
                <a:solidFill>
                  <a:srgbClr val="18254A"/>
                </a:solidFill>
                <a:latin typeface="맑은 고딕"/>
                <a:cs typeface="맑은 고딕"/>
              </a:rPr>
              <a:t> </a:t>
            </a:r>
            <a:r>
              <a:rPr lang="ko-KR" altLang="en-US" sz="2500" b="1" spc="-70" dirty="0">
                <a:solidFill>
                  <a:srgbClr val="18254A"/>
                </a:solidFill>
                <a:latin typeface="맑은 고딕"/>
                <a:cs typeface="맑은 고딕"/>
              </a:rPr>
              <a:t>프로젝트</a:t>
            </a:r>
            <a:r>
              <a:rPr sz="2500" b="1" spc="-45" dirty="0">
                <a:solidFill>
                  <a:srgbClr val="18254A"/>
                </a:solidFill>
                <a:latin typeface="맑은 고딕"/>
                <a:cs typeface="맑은 고딕"/>
              </a:rPr>
              <a:t> </a:t>
            </a:r>
            <a:r>
              <a:rPr lang="en-US" sz="2500" b="1" spc="-25" dirty="0">
                <a:solidFill>
                  <a:srgbClr val="18254A"/>
                </a:solidFill>
                <a:latin typeface="맑은 고딕"/>
                <a:cs typeface="맑은 고딕"/>
              </a:rPr>
              <a:t>1</a:t>
            </a:r>
            <a:r>
              <a:rPr sz="2500" b="1" spc="-25" dirty="0">
                <a:solidFill>
                  <a:srgbClr val="18254A"/>
                </a:solidFill>
                <a:latin typeface="맑은 고딕"/>
                <a:cs typeface="맑은 고딕"/>
              </a:rPr>
              <a:t>팀</a:t>
            </a:r>
            <a:endParaRPr sz="25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400" spc="-10" dirty="0">
                <a:solidFill>
                  <a:srgbClr val="18254A"/>
                </a:solidFill>
                <a:latin typeface="맑은 고딕"/>
                <a:cs typeface="맑은 고딕"/>
              </a:rPr>
              <a:t>2024.</a:t>
            </a:r>
            <a:r>
              <a:rPr lang="en-US" sz="1400" spc="-10" dirty="0">
                <a:solidFill>
                  <a:srgbClr val="18254A"/>
                </a:solidFill>
                <a:latin typeface="맑은 고딕"/>
                <a:cs typeface="맑은 고딕"/>
              </a:rPr>
              <a:t>11.12</a:t>
            </a:r>
            <a:endParaRPr sz="1400" dirty="0">
              <a:latin typeface="맑은 고딕"/>
              <a:cs typeface="맑은 고딕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18588" y="3967988"/>
            <a:ext cx="1629411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 err="1">
                <a:solidFill>
                  <a:srgbClr val="18254A"/>
                </a:solidFill>
                <a:latin typeface="맑은 고딕"/>
                <a:cs typeface="맑은 고딕"/>
              </a:rPr>
              <a:t>발표자</a:t>
            </a:r>
            <a:r>
              <a:rPr sz="1100" spc="-15" dirty="0">
                <a:solidFill>
                  <a:srgbClr val="18254A"/>
                </a:solidFill>
                <a:latin typeface="맑은 고딕"/>
                <a:cs typeface="맑은 고딕"/>
              </a:rPr>
              <a:t> </a:t>
            </a:r>
            <a:r>
              <a:rPr sz="1100" spc="-50" dirty="0">
                <a:solidFill>
                  <a:srgbClr val="18254A"/>
                </a:solidFill>
                <a:latin typeface="맑은 고딕"/>
                <a:cs typeface="맑은 고딕"/>
              </a:rPr>
              <a:t>:</a:t>
            </a:r>
            <a:r>
              <a:rPr lang="en-US" sz="1100" spc="-50" dirty="0">
                <a:solidFill>
                  <a:srgbClr val="18254A"/>
                </a:solidFill>
                <a:latin typeface="맑은 고딕"/>
                <a:cs typeface="맑은 고딕"/>
              </a:rPr>
              <a:t> </a:t>
            </a:r>
            <a:r>
              <a:rPr lang="ko-KR" altLang="en-US" sz="1100" spc="-50" dirty="0" err="1">
                <a:solidFill>
                  <a:srgbClr val="18254A"/>
                </a:solidFill>
                <a:latin typeface="맑은 고딕"/>
                <a:cs typeface="맑은 고딕"/>
              </a:rPr>
              <a:t>최형용</a:t>
            </a:r>
            <a:endParaRPr sz="1100" dirty="0">
              <a:latin typeface="맑은 고딕"/>
              <a:cs typeface="맑은 고딕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0"/>
            <a:ext cx="1181100" cy="5143500"/>
            <a:chOff x="0" y="0"/>
            <a:chExt cx="1181100" cy="5143500"/>
          </a:xfrm>
        </p:grpSpPr>
        <p:sp>
          <p:nvSpPr>
            <p:cNvPr id="6" name="object 6"/>
            <p:cNvSpPr/>
            <p:nvPr/>
          </p:nvSpPr>
          <p:spPr>
            <a:xfrm>
              <a:off x="153822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0" y="2149094"/>
                  </a:moveTo>
                  <a:lnTo>
                    <a:pt x="38100" y="2149094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21490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42998"/>
              <a:ext cx="1181087" cy="30005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81100" cy="5143500"/>
            <a:chOff x="0" y="0"/>
            <a:chExt cx="1181100" cy="5143500"/>
          </a:xfrm>
        </p:grpSpPr>
        <p:sp>
          <p:nvSpPr>
            <p:cNvPr id="3" name="object 3"/>
            <p:cNvSpPr/>
            <p:nvPr/>
          </p:nvSpPr>
          <p:spPr>
            <a:xfrm>
              <a:off x="153822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0" y="2149094"/>
                  </a:moveTo>
                  <a:lnTo>
                    <a:pt x="38100" y="2149094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21490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42998"/>
              <a:ext cx="1181087" cy="30005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487805" y="394538"/>
            <a:ext cx="5346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18254A"/>
                </a:solidFill>
                <a:latin typeface="맑은 고딕"/>
                <a:cs typeface="맑은 고딕"/>
              </a:rPr>
              <a:t>목차</a:t>
            </a:r>
            <a:endParaRPr sz="2000">
              <a:latin typeface="맑은 고딕"/>
              <a:cs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DF3943-6848-777B-8ED1-AD28B673962C}"/>
              </a:ext>
            </a:extLst>
          </p:cNvPr>
          <p:cNvSpPr txBox="1"/>
          <p:nvPr/>
        </p:nvSpPr>
        <p:spPr>
          <a:xfrm>
            <a:off x="1487804" y="1366048"/>
            <a:ext cx="42271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1. </a:t>
            </a:r>
            <a:r>
              <a:rPr lang="ko-KR" altLang="en-US" b="1" dirty="0">
                <a:latin typeface="+mj-ea"/>
                <a:ea typeface="+mj-ea"/>
              </a:rPr>
              <a:t>프로젝트 현황</a:t>
            </a:r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r>
              <a:rPr lang="en-US" altLang="ko-KR" b="1" dirty="0">
                <a:latin typeface="+mj-ea"/>
                <a:ea typeface="+mj-ea"/>
              </a:rPr>
              <a:t>2. </a:t>
            </a:r>
            <a:r>
              <a:rPr lang="ko-KR" altLang="en-US" b="1" dirty="0">
                <a:latin typeface="+mj-ea"/>
                <a:ea typeface="+mj-ea"/>
              </a:rPr>
              <a:t>프로젝트 진행계획</a:t>
            </a:r>
            <a:endParaRPr lang="en-US" altLang="ko-KR" b="1" dirty="0">
              <a:latin typeface="+mj-ea"/>
              <a:ea typeface="+mj-ea"/>
            </a:endParaRPr>
          </a:p>
          <a:p>
            <a:endParaRPr lang="ko-KR" altLang="en-US" b="1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0261" y="1242999"/>
            <a:ext cx="4326255" cy="3453129"/>
            <a:chOff x="1580261" y="1242999"/>
            <a:chExt cx="4326255" cy="3453129"/>
          </a:xfrm>
        </p:grpSpPr>
        <p:sp>
          <p:nvSpPr>
            <p:cNvPr id="3" name="object 3"/>
            <p:cNvSpPr/>
            <p:nvPr/>
          </p:nvSpPr>
          <p:spPr>
            <a:xfrm>
              <a:off x="1599311" y="1262049"/>
              <a:ext cx="4288155" cy="3415029"/>
            </a:xfrm>
            <a:custGeom>
              <a:avLst/>
              <a:gdLst/>
              <a:ahLst/>
              <a:cxnLst/>
              <a:rect l="l" t="t" r="r" b="b"/>
              <a:pathLst>
                <a:path w="4288155" h="3415029">
                  <a:moveTo>
                    <a:pt x="4287647" y="0"/>
                  </a:moveTo>
                  <a:lnTo>
                    <a:pt x="0" y="0"/>
                  </a:lnTo>
                  <a:lnTo>
                    <a:pt x="0" y="3414649"/>
                  </a:lnTo>
                  <a:lnTo>
                    <a:pt x="4287647" y="3414649"/>
                  </a:lnTo>
                  <a:lnTo>
                    <a:pt x="4287647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99311" y="1262049"/>
              <a:ext cx="4288155" cy="3415029"/>
            </a:xfrm>
            <a:custGeom>
              <a:avLst/>
              <a:gdLst/>
              <a:ahLst/>
              <a:cxnLst/>
              <a:rect l="l" t="t" r="r" b="b"/>
              <a:pathLst>
                <a:path w="4288155" h="3415029">
                  <a:moveTo>
                    <a:pt x="0" y="3414649"/>
                  </a:moveTo>
                  <a:lnTo>
                    <a:pt x="4287647" y="3414649"/>
                  </a:lnTo>
                  <a:lnTo>
                    <a:pt x="4287647" y="0"/>
                  </a:lnTo>
                  <a:lnTo>
                    <a:pt x="0" y="0"/>
                  </a:lnTo>
                  <a:lnTo>
                    <a:pt x="0" y="3414649"/>
                  </a:lnTo>
                  <a:close/>
                </a:path>
              </a:pathLst>
            </a:custGeom>
            <a:ln w="38100">
              <a:solidFill>
                <a:srgbClr val="1825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87805" y="394538"/>
            <a:ext cx="31762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solidFill>
                  <a:srgbClr val="18254A"/>
                </a:solidFill>
                <a:latin typeface="맑은 고딕"/>
                <a:cs typeface="맑은 고딕"/>
              </a:rPr>
              <a:t>스터디원</a:t>
            </a:r>
            <a:r>
              <a:rPr b="0" spc="-30" dirty="0">
                <a:solidFill>
                  <a:srgbClr val="18254A"/>
                </a:solidFill>
                <a:latin typeface="맑은 고딕"/>
                <a:cs typeface="맑은 고딕"/>
              </a:rPr>
              <a:t> </a:t>
            </a:r>
            <a:r>
              <a:rPr b="0" dirty="0">
                <a:solidFill>
                  <a:srgbClr val="18254A"/>
                </a:solidFill>
                <a:latin typeface="맑은 고딕"/>
                <a:cs typeface="맑은 고딕"/>
              </a:rPr>
              <a:t>소개</a:t>
            </a:r>
            <a:r>
              <a:rPr b="0" spc="-15" dirty="0">
                <a:solidFill>
                  <a:srgbClr val="18254A"/>
                </a:solidFill>
                <a:latin typeface="맑은 고딕"/>
                <a:cs typeface="맑은 고딕"/>
              </a:rPr>
              <a:t> </a:t>
            </a:r>
            <a:r>
              <a:rPr b="0" dirty="0">
                <a:solidFill>
                  <a:srgbClr val="18254A"/>
                </a:solidFill>
                <a:latin typeface="맑은 고딕"/>
                <a:cs typeface="맑은 고딕"/>
              </a:rPr>
              <a:t>및</a:t>
            </a:r>
            <a:r>
              <a:rPr b="0" spc="-15" dirty="0">
                <a:solidFill>
                  <a:srgbClr val="18254A"/>
                </a:solidFill>
                <a:latin typeface="맑은 고딕"/>
                <a:cs typeface="맑은 고딕"/>
              </a:rPr>
              <a:t> </a:t>
            </a:r>
            <a:r>
              <a:rPr b="0" dirty="0">
                <a:solidFill>
                  <a:srgbClr val="18254A"/>
                </a:solidFill>
                <a:latin typeface="맑은 고딕"/>
                <a:cs typeface="맑은 고딕"/>
              </a:rPr>
              <a:t>만남</a:t>
            </a:r>
            <a:r>
              <a:rPr b="0" spc="-25" dirty="0">
                <a:solidFill>
                  <a:srgbClr val="18254A"/>
                </a:solidFill>
                <a:latin typeface="맑은 고딕"/>
                <a:cs typeface="맑은 고딕"/>
              </a:rPr>
              <a:t> 인증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71438" y="1659127"/>
            <a:ext cx="2362962" cy="15472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맑은 고딕"/>
                <a:cs typeface="맑은 고딕"/>
              </a:rPr>
              <a:t>스터디원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1</a:t>
            </a:r>
            <a:r>
              <a:rPr sz="1400" spc="-5" dirty="0">
                <a:latin typeface="맑은 고딕"/>
                <a:cs typeface="맑은 고딕"/>
              </a:rPr>
              <a:t> </a:t>
            </a:r>
            <a:r>
              <a:rPr sz="1400" spc="-50" dirty="0">
                <a:latin typeface="맑은 고딕"/>
                <a:cs typeface="맑은 고딕"/>
              </a:rPr>
              <a:t>:</a:t>
            </a:r>
            <a:r>
              <a:rPr lang="en-US" sz="1400" spc="-50" dirty="0">
                <a:latin typeface="맑은 고딕"/>
                <a:cs typeface="맑은 고딕"/>
              </a:rPr>
              <a:t> </a:t>
            </a:r>
            <a:r>
              <a:rPr lang="ko-KR" altLang="en-US" sz="1400" spc="-50" dirty="0">
                <a:latin typeface="맑은 고딕"/>
                <a:cs typeface="맑은 고딕"/>
              </a:rPr>
              <a:t>문주일</a:t>
            </a:r>
            <a:endParaRPr lang="en-US" altLang="ko-KR" sz="1400" spc="-5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1400" spc="-5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 err="1">
                <a:latin typeface="맑은 고딕"/>
                <a:cs typeface="맑은 고딕"/>
              </a:rPr>
              <a:t>스터디원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2</a:t>
            </a:r>
            <a:r>
              <a:rPr sz="1400" spc="-5" dirty="0">
                <a:latin typeface="맑은 고딕"/>
                <a:cs typeface="맑은 고딕"/>
              </a:rPr>
              <a:t> </a:t>
            </a:r>
            <a:r>
              <a:rPr sz="1400" spc="-50" dirty="0">
                <a:latin typeface="맑은 고딕"/>
                <a:cs typeface="맑은 고딕"/>
              </a:rPr>
              <a:t>:</a:t>
            </a:r>
            <a:r>
              <a:rPr lang="en-US" sz="1400" spc="-50" dirty="0">
                <a:latin typeface="맑은 고딕"/>
                <a:cs typeface="맑은 고딕"/>
              </a:rPr>
              <a:t> </a:t>
            </a:r>
            <a:r>
              <a:rPr lang="ko-KR" altLang="en-US" sz="1400" spc="-50" dirty="0">
                <a:latin typeface="맑은 고딕"/>
                <a:cs typeface="맑은 고딕"/>
              </a:rPr>
              <a:t>조효원</a:t>
            </a:r>
            <a:endParaRPr lang="en-US" sz="1400" spc="-5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endParaRPr lang="en-US" sz="1400" spc="-5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lang="ko-KR" altLang="en-US" sz="1400" spc="-50" dirty="0" err="1">
                <a:latin typeface="맑은 고딕"/>
                <a:cs typeface="맑은 고딕"/>
              </a:rPr>
              <a:t>스터디원</a:t>
            </a:r>
            <a:r>
              <a:rPr lang="ko-KR" altLang="en-US" sz="1400" spc="-50" dirty="0">
                <a:latin typeface="맑은 고딕"/>
                <a:cs typeface="맑은 고딕"/>
              </a:rPr>
              <a:t> </a:t>
            </a:r>
            <a:r>
              <a:rPr lang="en-US" altLang="ko-KR" sz="1400" spc="-50" dirty="0">
                <a:latin typeface="맑은 고딕"/>
                <a:cs typeface="맑은 고딕"/>
              </a:rPr>
              <a:t>3 : </a:t>
            </a:r>
            <a:r>
              <a:rPr lang="ko-KR" altLang="en-US" sz="1400" spc="-50" dirty="0" err="1">
                <a:latin typeface="맑은 고딕"/>
                <a:cs typeface="맑은 고딕"/>
              </a:rPr>
              <a:t>최규원</a:t>
            </a:r>
            <a:endParaRPr lang="en-US" altLang="ko-KR" sz="1400" spc="-5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endParaRPr lang="en-US" sz="1400" dirty="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lang="ko-KR" altLang="en-US" sz="1400" dirty="0" err="1">
                <a:latin typeface="맑은 고딕"/>
                <a:cs typeface="맑은 고딕"/>
              </a:rPr>
              <a:t>스터디원</a:t>
            </a:r>
            <a:r>
              <a:rPr lang="ko-KR" altLang="en-US" sz="1400" dirty="0">
                <a:latin typeface="맑은 고딕"/>
                <a:cs typeface="맑은 고딕"/>
              </a:rPr>
              <a:t> </a:t>
            </a:r>
            <a:r>
              <a:rPr lang="en-US" altLang="ko-KR" sz="1400" dirty="0">
                <a:latin typeface="맑은 고딕"/>
                <a:cs typeface="맑은 고딕"/>
              </a:rPr>
              <a:t>4 : </a:t>
            </a:r>
            <a:r>
              <a:rPr lang="ko-KR" altLang="en-US" sz="1400" dirty="0" err="1">
                <a:latin typeface="맑은 고딕"/>
                <a:cs typeface="맑은 고딕"/>
              </a:rPr>
              <a:t>최형용</a:t>
            </a:r>
            <a:endParaRPr sz="1400" dirty="0">
              <a:latin typeface="맑은 고딕"/>
              <a:cs typeface="맑은 고딕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E78799-D439-8F2F-5B42-90ACA2C99062}"/>
              </a:ext>
            </a:extLst>
          </p:cNvPr>
          <p:cNvSpPr txBox="1"/>
          <p:nvPr/>
        </p:nvSpPr>
        <p:spPr>
          <a:xfrm>
            <a:off x="1820803" y="1352550"/>
            <a:ext cx="274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목요일 </a:t>
            </a:r>
            <a:r>
              <a:rPr lang="en-US" altLang="ko-KR" dirty="0"/>
              <a:t>6:00~8:30</a:t>
            </a:r>
            <a:r>
              <a:rPr lang="ko-KR" altLang="en-US" dirty="0"/>
              <a:t>에</a:t>
            </a:r>
            <a:endParaRPr lang="en-US" altLang="ko-KR" dirty="0"/>
          </a:p>
          <a:p>
            <a:r>
              <a:rPr lang="en-US" altLang="ko-KR" dirty="0"/>
              <a:t>310</a:t>
            </a:r>
            <a:r>
              <a:rPr lang="ko-KR" altLang="en-US" dirty="0"/>
              <a:t>관 </a:t>
            </a:r>
            <a:r>
              <a:rPr lang="en-US" altLang="ko-KR" dirty="0"/>
              <a:t>825</a:t>
            </a:r>
            <a:r>
              <a:rPr lang="ko-KR" altLang="en-US" dirty="0"/>
              <a:t>호 룸</a:t>
            </a:r>
            <a:r>
              <a:rPr lang="en-US" altLang="ko-KR" dirty="0"/>
              <a:t>1</a:t>
            </a:r>
            <a:r>
              <a:rPr lang="ko-KR" altLang="en-US" dirty="0"/>
              <a:t>에서</a:t>
            </a:r>
            <a:endParaRPr lang="en-US" altLang="ko-KR" dirty="0"/>
          </a:p>
          <a:p>
            <a:r>
              <a:rPr lang="ko-KR" altLang="en-US" dirty="0"/>
              <a:t>회의 진행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AB1D0-48F2-CC88-2407-4FC6B3F54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659ED3D-CEF1-F5FA-D58C-FFA8278AAC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6197" y="295401"/>
            <a:ext cx="2691003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1. </a:t>
            </a:r>
            <a:r>
              <a:rPr lang="ko-KR" altLang="en-US" dirty="0"/>
              <a:t>프로젝트 현황</a:t>
            </a:r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AEFC1CB-9F96-126B-FA0B-2E67EFF0EEC2}"/>
              </a:ext>
            </a:extLst>
          </p:cNvPr>
          <p:cNvSpPr txBox="1"/>
          <p:nvPr/>
        </p:nvSpPr>
        <p:spPr>
          <a:xfrm>
            <a:off x="1576196" y="906221"/>
            <a:ext cx="4977003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73630" algn="l"/>
              </a:tabLst>
            </a:pPr>
            <a:r>
              <a:rPr lang="ko-KR" altLang="en-US" sz="1600" b="1" dirty="0">
                <a:latin typeface="맑은 고딕"/>
                <a:cs typeface="맑은 고딕"/>
              </a:rPr>
              <a:t>목표</a:t>
            </a:r>
            <a:r>
              <a:rPr lang="en-US" altLang="ko-KR" sz="1600" b="1" dirty="0">
                <a:latin typeface="맑은 고딕"/>
                <a:cs typeface="맑은 고딕"/>
              </a:rPr>
              <a:t>: SPEECH</a:t>
            </a:r>
            <a:r>
              <a:rPr lang="ko-KR" altLang="en-US" sz="1600" b="1" dirty="0">
                <a:latin typeface="맑은 고딕"/>
                <a:cs typeface="맑은 고딕"/>
              </a:rPr>
              <a:t>의 </a:t>
            </a:r>
            <a:r>
              <a:rPr sz="1600" b="1" dirty="0" err="1">
                <a:latin typeface="맑은 고딕"/>
                <a:cs typeface="맑은 고딕"/>
              </a:rPr>
              <a:t>감정</a:t>
            </a:r>
            <a:r>
              <a:rPr lang="en-US" sz="1600" b="1" dirty="0">
                <a:latin typeface="맑은 고딕"/>
                <a:cs typeface="맑은 고딕"/>
              </a:rPr>
              <a:t> </a:t>
            </a:r>
            <a:r>
              <a:rPr sz="1600" b="1" dirty="0" err="1">
                <a:latin typeface="맑은 고딕"/>
                <a:cs typeface="맑은 고딕"/>
              </a:rPr>
              <a:t>분석을</a:t>
            </a:r>
            <a:r>
              <a:rPr sz="1600" b="1" spc="-50" dirty="0">
                <a:latin typeface="맑은 고딕"/>
                <a:cs typeface="맑은 고딕"/>
              </a:rPr>
              <a:t> </a:t>
            </a:r>
            <a:r>
              <a:rPr sz="1600" b="1" dirty="0" err="1">
                <a:latin typeface="맑은 고딕"/>
                <a:cs typeface="맑은 고딕"/>
              </a:rPr>
              <a:t>통한</a:t>
            </a:r>
            <a:r>
              <a:rPr sz="1600" b="1" spc="-70" dirty="0">
                <a:latin typeface="맑은 고딕"/>
                <a:cs typeface="맑은 고딕"/>
              </a:rPr>
              <a:t> </a:t>
            </a:r>
            <a:r>
              <a:rPr sz="1600" b="1" spc="-20" dirty="0">
                <a:latin typeface="맑은 고딕"/>
                <a:cs typeface="맑은 고딕"/>
              </a:rPr>
              <a:t>MUSIC</a:t>
            </a:r>
            <a:r>
              <a:rPr lang="en-US" sz="1600" b="1" spc="-20" dirty="0">
                <a:latin typeface="맑은 고딕"/>
                <a:cs typeface="맑은 고딕"/>
              </a:rPr>
              <a:t> </a:t>
            </a:r>
            <a:r>
              <a:rPr sz="1600" b="1" spc="-10" dirty="0">
                <a:latin typeface="맑은 고딕"/>
                <a:cs typeface="맑은 고딕"/>
              </a:rPr>
              <a:t>RETRIEVAL</a:t>
            </a:r>
            <a:endParaRPr sz="1600" dirty="0">
              <a:latin typeface="맑은 고딕"/>
              <a:cs typeface="맑은 고딕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70273D1-5547-482C-41DB-00B29A7FD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581150"/>
            <a:ext cx="5564553" cy="1828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565EA8-802F-B368-5ECF-E11806D9B643}"/>
              </a:ext>
            </a:extLst>
          </p:cNvPr>
          <p:cNvSpPr txBox="1"/>
          <p:nvPr/>
        </p:nvSpPr>
        <p:spPr>
          <a:xfrm>
            <a:off x="1576196" y="3698670"/>
            <a:ext cx="75678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(1) </a:t>
            </a:r>
            <a:r>
              <a:rPr lang="ko-KR" altLang="en-US" sz="16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유사한 과제 수행한 </a:t>
            </a:r>
            <a:r>
              <a:rPr lang="ko-KR" altLang="en-US" sz="1600" b="1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논문 분석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2"/>
            <a:r>
              <a:rPr lang="en-US" altLang="ko-KR" sz="16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en-US" altLang="ko-KR" sz="1600" b="1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SPEECH2MUSIC RETRIEVAL USING EMOTION SIMILARITY(2023)</a:t>
            </a:r>
          </a:p>
          <a:p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주요한 문제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</a:p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speech / music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다른 도메인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각각 독립적인 두 데이터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감정 체계 통합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3F25B33-BF21-13F6-FC28-F9CBA9F8EF2F}"/>
              </a:ext>
            </a:extLst>
          </p:cNvPr>
          <p:cNvSpPr/>
          <p:nvPr/>
        </p:nvSpPr>
        <p:spPr>
          <a:xfrm>
            <a:off x="2286000" y="1542802"/>
            <a:ext cx="762000" cy="88884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194777B-FF77-A882-6726-617635BB25CA}"/>
              </a:ext>
            </a:extLst>
          </p:cNvPr>
          <p:cNvSpPr/>
          <p:nvPr/>
        </p:nvSpPr>
        <p:spPr>
          <a:xfrm>
            <a:off x="2282283" y="2521818"/>
            <a:ext cx="762000" cy="88884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529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C4726-FB1C-7EBA-C980-31FB3839B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CF1F66A-F798-3038-70B4-8B89A59E28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6197" y="295401"/>
            <a:ext cx="2691003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1. </a:t>
            </a:r>
            <a:r>
              <a:rPr lang="ko-KR" altLang="en-US" dirty="0"/>
              <a:t>프로젝트 현황</a:t>
            </a:r>
            <a:endParaRPr spc="-25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DFC451C-B706-D3BA-15D8-37B093DB0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581150"/>
            <a:ext cx="5564553" cy="1828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BEDDD2-B881-B687-1B9A-BC7AD1E53A0F}"/>
              </a:ext>
            </a:extLst>
          </p:cNvPr>
          <p:cNvSpPr txBox="1"/>
          <p:nvPr/>
        </p:nvSpPr>
        <p:spPr>
          <a:xfrm>
            <a:off x="1576196" y="3698670"/>
            <a:ext cx="69582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(2) </a:t>
            </a:r>
            <a:r>
              <a:rPr lang="ko-KR" altLang="en-US" sz="16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모델의 </a:t>
            </a:r>
            <a:r>
              <a:rPr lang="ko-KR" altLang="en-US" sz="1600" b="1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성능 개선방안 </a:t>
            </a:r>
            <a:r>
              <a:rPr lang="ko-KR" altLang="en-US" sz="16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논의</a:t>
            </a:r>
            <a:endParaRPr lang="en-US" altLang="ko-KR" sz="160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기존 논문의 문제해결 프로세스 중심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1545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33022-AFA0-873D-CE74-8F560D438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">
            <a:extLst>
              <a:ext uri="{FF2B5EF4-FFF2-40B4-BE49-F238E27FC236}">
                <a16:creationId xmlns:a16="http://schemas.microsoft.com/office/drawing/2014/main" id="{CA09972B-82FF-DFC0-A546-405F5EEFAD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6197" y="295401"/>
            <a:ext cx="5586603" cy="33406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1. </a:t>
            </a:r>
            <a:r>
              <a:rPr lang="ko-KR" altLang="en-US" dirty="0"/>
              <a:t>프로젝트 현황 </a:t>
            </a:r>
            <a:r>
              <a:rPr lang="en-US" altLang="ko-KR" dirty="0"/>
              <a:t>– </a:t>
            </a:r>
            <a:r>
              <a:rPr lang="ko-KR" altLang="en-US" dirty="0"/>
              <a:t>모델 개선방안 논의</a:t>
            </a:r>
            <a:endParaRPr spc="-25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0B0861-DA9F-928E-2454-7EA1D22E10C3}"/>
              </a:ext>
            </a:extLst>
          </p:cNvPr>
          <p:cNvSpPr txBox="1"/>
          <p:nvPr/>
        </p:nvSpPr>
        <p:spPr>
          <a:xfrm>
            <a:off x="1572999" y="3269778"/>
            <a:ext cx="26383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chemeClr val="tx1"/>
                </a:solidFill>
                <a:latin typeface="+mn-ea"/>
                <a:ea typeface="+mn-ea"/>
              </a:rPr>
              <a:t>🎶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ea typeface="+mn-ea"/>
              </a:rPr>
              <a:t>SPEECH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ea typeface="+mn-ea"/>
              </a:rPr>
              <a:t> 인코더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ea typeface="+mn-ea"/>
              </a:rPr>
              <a:t>: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wav2vec 2.0(2020)</a:t>
            </a:r>
            <a:endParaRPr lang="en-US" altLang="ko-KR" sz="14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74F155-824D-5FFB-3321-269F1D1E7FEC}"/>
              </a:ext>
            </a:extLst>
          </p:cNvPr>
          <p:cNvSpPr txBox="1"/>
          <p:nvPr/>
        </p:nvSpPr>
        <p:spPr>
          <a:xfrm>
            <a:off x="1447800" y="734587"/>
            <a:ext cx="3718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Both"/>
            </a:pPr>
            <a:r>
              <a:rPr lang="ko-KR" altLang="en-US" b="1" dirty="0">
                <a:latin typeface="+mn-ea"/>
                <a:ea typeface="+mn-ea"/>
              </a:rPr>
              <a:t>인코더 교체</a:t>
            </a:r>
            <a:endParaRPr lang="en-US" altLang="ko-KR" b="1" dirty="0">
              <a:latin typeface="+mn-ea"/>
              <a:ea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F8D0CD-83B9-A776-DDBC-AB06367299C7}"/>
              </a:ext>
            </a:extLst>
          </p:cNvPr>
          <p:cNvSpPr txBox="1"/>
          <p:nvPr/>
        </p:nvSpPr>
        <p:spPr>
          <a:xfrm>
            <a:off x="1573000" y="4144469"/>
            <a:ext cx="26383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chemeClr val="tx1"/>
                </a:solidFill>
                <a:latin typeface="+mn-ea"/>
                <a:ea typeface="+mn-ea"/>
              </a:rPr>
              <a:t>🎶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ea typeface="+mn-ea"/>
              </a:rPr>
              <a:t>MUSIC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ea typeface="+mn-ea"/>
              </a:rPr>
              <a:t> 인코더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ea typeface="+mn-ea"/>
              </a:rPr>
              <a:t>: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music tagging encoder(2021)</a:t>
            </a:r>
            <a:endParaRPr lang="en-US" altLang="ko-KR" sz="1400" b="1" dirty="0">
              <a:solidFill>
                <a:schemeClr val="tx1"/>
              </a:solidFill>
              <a:latin typeface="+mn-ea"/>
              <a:ea typeface="+mn-ea"/>
            </a:endParaRPr>
          </a:p>
          <a:p>
            <a:endParaRPr lang="en-US" altLang="ko-KR" sz="14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E966F8F-2239-04F3-EA9D-CFDD727BAC4D}"/>
              </a:ext>
            </a:extLst>
          </p:cNvPr>
          <p:cNvGrpSpPr/>
          <p:nvPr/>
        </p:nvGrpSpPr>
        <p:grpSpPr>
          <a:xfrm>
            <a:off x="3817337" y="807257"/>
            <a:ext cx="2133600" cy="2124711"/>
            <a:chOff x="2362200" y="1287628"/>
            <a:chExt cx="2120625" cy="2228965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17E53D0A-CBEB-E5B9-BF0A-C0D30653A2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68732"/>
            <a:stretch/>
          </p:blipFill>
          <p:spPr>
            <a:xfrm>
              <a:off x="2362200" y="1287628"/>
              <a:ext cx="2120625" cy="2228965"/>
            </a:xfrm>
            <a:prstGeom prst="rect">
              <a:avLst/>
            </a:prstGeom>
          </p:spPr>
        </p:pic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910D4CB2-1534-2C0C-730A-277DA10BF41C}"/>
                </a:ext>
              </a:extLst>
            </p:cNvPr>
            <p:cNvSpPr/>
            <p:nvPr/>
          </p:nvSpPr>
          <p:spPr>
            <a:xfrm>
              <a:off x="3200400" y="1504951"/>
              <a:ext cx="533400" cy="228600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6FA2DC70-D985-BA67-24CC-07ED02506FDB}"/>
                </a:ext>
              </a:extLst>
            </p:cNvPr>
            <p:cNvSpPr/>
            <p:nvPr/>
          </p:nvSpPr>
          <p:spPr>
            <a:xfrm>
              <a:off x="3200400" y="2724150"/>
              <a:ext cx="533400" cy="228600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02A6C51-5CEF-22A1-3B52-95772A8F4F8F}"/>
              </a:ext>
            </a:extLst>
          </p:cNvPr>
          <p:cNvSpPr txBox="1"/>
          <p:nvPr/>
        </p:nvSpPr>
        <p:spPr>
          <a:xfrm>
            <a:off x="4884137" y="4010048"/>
            <a:ext cx="36967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chemeClr val="tx1"/>
                </a:solidFill>
                <a:latin typeface="+mn-ea"/>
                <a:ea typeface="+mn-ea"/>
              </a:rPr>
              <a:t>- </a:t>
            </a:r>
            <a:r>
              <a:rPr lang="en-US" altLang="ko-KR" sz="1400" b="1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</a:rPr>
              <a:t>music tagging with self attention(2019)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ea typeface="+mn-ea"/>
              </a:rPr>
              <a:t>self-attention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ea typeface="+mn-ea"/>
              </a:rPr>
              <a:t>을 통해 </a:t>
            </a:r>
            <a:r>
              <a:rPr lang="ko-KR" altLang="en-US" sz="1200" dirty="0"/>
              <a:t>주로 태그 예측에 집중</a:t>
            </a: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- </a:t>
            </a:r>
            <a:r>
              <a:rPr lang="en-US" altLang="ko-KR" sz="1400" b="1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</a:rPr>
              <a:t>MULAN(2022)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ko-KR" altLang="en-US" sz="1200" dirty="0"/>
              <a:t>오디오 </a:t>
            </a:r>
            <a:r>
              <a:rPr lang="en-US" altLang="ko-KR" sz="1200" dirty="0"/>
              <a:t>+ </a:t>
            </a:r>
            <a:r>
              <a:rPr lang="ko-KR" altLang="en-US" sz="1200" dirty="0"/>
              <a:t>가사 등 메타 데이터 활용하여 음악의 전반적인 특성을 고려</a:t>
            </a: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F0A866-49A3-ED9D-FAB2-ECC273C5D9CB}"/>
              </a:ext>
            </a:extLst>
          </p:cNvPr>
          <p:cNvSpPr txBox="1"/>
          <p:nvPr/>
        </p:nvSpPr>
        <p:spPr>
          <a:xfrm>
            <a:off x="4884137" y="3168348"/>
            <a:ext cx="36836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chemeClr val="tx1"/>
                </a:solidFill>
                <a:latin typeface="+mn-ea"/>
                <a:ea typeface="+mn-ea"/>
              </a:rPr>
              <a:t>- </a:t>
            </a:r>
            <a:r>
              <a:rPr lang="en-US" altLang="ko-KR" sz="1400" b="1" dirty="0" err="1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</a:rPr>
              <a:t>HuBERT</a:t>
            </a:r>
            <a:r>
              <a:rPr lang="en-US" altLang="ko-KR" sz="1400" b="1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</a:rPr>
              <a:t>(2021)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ea typeface="+mn-ea"/>
              </a:rPr>
              <a:t>CNN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ea typeface="+mn-ea"/>
              </a:rPr>
              <a:t>과 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ea typeface="+mn-ea"/>
              </a:rPr>
              <a:t>transformer 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ea typeface="+mn-ea"/>
              </a:rPr>
              <a:t>결합 모델</a:t>
            </a: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  <a:p>
            <a:r>
              <a:rPr lang="en-US" altLang="ko-KR" sz="1400" b="1" dirty="0">
                <a:solidFill>
                  <a:schemeClr val="tx1"/>
                </a:solidFill>
                <a:latin typeface="+mn-ea"/>
                <a:ea typeface="+mn-ea"/>
              </a:rPr>
              <a:t>- </a:t>
            </a:r>
            <a:r>
              <a:rPr lang="en-US" altLang="ko-KR" sz="1400" b="1" dirty="0" err="1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</a:rPr>
              <a:t>WavLm</a:t>
            </a:r>
            <a:r>
              <a:rPr lang="en-US" altLang="ko-KR" sz="1400" b="1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ea typeface="+mn-ea"/>
              </a:rPr>
              <a:t>(2021)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  <a:ea typeface="+mn-ea"/>
              </a:rPr>
              <a:t>: 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ea typeface="+mn-ea"/>
              </a:rPr>
              <a:t>wav2vec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ea typeface="+mn-ea"/>
              </a:rPr>
              <a:t>과 유사한 구조로</a:t>
            </a:r>
            <a:r>
              <a:rPr lang="en-US" altLang="ko-KR" sz="12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sz="1200" dirty="0"/>
              <a:t>노이즈와 다양한 음성 환경에 강한 특성</a:t>
            </a: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F608813C-87CF-FD0C-CEEE-DC0A1C1A06BD}"/>
              </a:ext>
            </a:extLst>
          </p:cNvPr>
          <p:cNvSpPr/>
          <p:nvPr/>
        </p:nvSpPr>
        <p:spPr>
          <a:xfrm rot="16200000">
            <a:off x="4411428" y="3163259"/>
            <a:ext cx="228600" cy="533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17421002-1818-4C11-EADD-ADD848CE8B0F}"/>
              </a:ext>
            </a:extLst>
          </p:cNvPr>
          <p:cNvSpPr/>
          <p:nvPr/>
        </p:nvSpPr>
        <p:spPr>
          <a:xfrm rot="16200000">
            <a:off x="4409184" y="4139379"/>
            <a:ext cx="228600" cy="533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072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606AE-C889-70A3-CD69-037097EC4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8DC1DD4F-33AF-A332-9361-A36618E864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8851016"/>
                  </p:ext>
                </p:extLst>
              </p:nvPr>
            </p:nvGraphicFramePr>
            <p:xfrm>
              <a:off x="4191000" y="3714750"/>
              <a:ext cx="4747556" cy="609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6889">
                      <a:extLst>
                        <a:ext uri="{9D8B030D-6E8A-4147-A177-3AD203B41FA5}">
                          <a16:colId xmlns:a16="http://schemas.microsoft.com/office/drawing/2014/main" val="1489174576"/>
                        </a:ext>
                      </a:extLst>
                    </a:gridCol>
                    <a:gridCol w="1186889">
                      <a:extLst>
                        <a:ext uri="{9D8B030D-6E8A-4147-A177-3AD203B41FA5}">
                          <a16:colId xmlns:a16="http://schemas.microsoft.com/office/drawing/2014/main" val="3410625555"/>
                        </a:ext>
                      </a:extLst>
                    </a:gridCol>
                    <a:gridCol w="1186889">
                      <a:extLst>
                        <a:ext uri="{9D8B030D-6E8A-4147-A177-3AD203B41FA5}">
                          <a16:colId xmlns:a16="http://schemas.microsoft.com/office/drawing/2014/main" val="4090368780"/>
                        </a:ext>
                      </a:extLst>
                    </a:gridCol>
                    <a:gridCol w="1186889">
                      <a:extLst>
                        <a:ext uri="{9D8B030D-6E8A-4147-A177-3AD203B41FA5}">
                          <a16:colId xmlns:a16="http://schemas.microsoft.com/office/drawing/2014/main" val="3370129437"/>
                        </a:ext>
                      </a:extLst>
                    </a:gridCol>
                  </a:tblGrid>
                  <a:tr h="274476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anchor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positive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negative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margin</a:t>
                          </a:r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3191735"/>
                      </a:ext>
                    </a:extLst>
                  </a:tr>
                  <a:tr h="274476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155003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8DC1DD4F-33AF-A332-9361-A36618E864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8851016"/>
                  </p:ext>
                </p:extLst>
              </p:nvPr>
            </p:nvGraphicFramePr>
            <p:xfrm>
              <a:off x="4191000" y="3714750"/>
              <a:ext cx="4747556" cy="609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6889">
                      <a:extLst>
                        <a:ext uri="{9D8B030D-6E8A-4147-A177-3AD203B41FA5}">
                          <a16:colId xmlns:a16="http://schemas.microsoft.com/office/drawing/2014/main" val="1489174576"/>
                        </a:ext>
                      </a:extLst>
                    </a:gridCol>
                    <a:gridCol w="1186889">
                      <a:extLst>
                        <a:ext uri="{9D8B030D-6E8A-4147-A177-3AD203B41FA5}">
                          <a16:colId xmlns:a16="http://schemas.microsoft.com/office/drawing/2014/main" val="3410625555"/>
                        </a:ext>
                      </a:extLst>
                    </a:gridCol>
                    <a:gridCol w="1186889">
                      <a:extLst>
                        <a:ext uri="{9D8B030D-6E8A-4147-A177-3AD203B41FA5}">
                          <a16:colId xmlns:a16="http://schemas.microsoft.com/office/drawing/2014/main" val="4090368780"/>
                        </a:ext>
                      </a:extLst>
                    </a:gridCol>
                    <a:gridCol w="1186889">
                      <a:extLst>
                        <a:ext uri="{9D8B030D-6E8A-4147-A177-3AD203B41FA5}">
                          <a16:colId xmlns:a16="http://schemas.microsoft.com/office/drawing/2014/main" val="3370129437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anchor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positive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negative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margin</a:t>
                          </a:r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319173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513" t="-104000" r="-302051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0513" t="-104000" r="-202051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0513" t="-104000" r="-102051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00513" t="-104000" r="-2051" b="-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550034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25524A2B-9C2B-80F1-6EA3-D1EC62FDA5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413"/>
          <a:stretch/>
        </p:blipFill>
        <p:spPr>
          <a:xfrm>
            <a:off x="1676400" y="4012958"/>
            <a:ext cx="2381310" cy="3113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5D06D1-5A64-B3E2-7974-2E6A7A82B54E}"/>
              </a:ext>
            </a:extLst>
          </p:cNvPr>
          <p:cNvSpPr txBox="1"/>
          <p:nvPr/>
        </p:nvSpPr>
        <p:spPr>
          <a:xfrm>
            <a:off x="1561538" y="1182100"/>
            <a:ext cx="6058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n-ea"/>
                <a:ea typeface="+mn-ea"/>
              </a:rPr>
              <a:t>Triplet loss</a:t>
            </a:r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BE6F7019-97EA-18B1-ED61-5C39AAC90E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6197" y="295401"/>
            <a:ext cx="5586603" cy="33406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1. </a:t>
            </a:r>
            <a:r>
              <a:rPr lang="ko-KR" altLang="en-US" dirty="0"/>
              <a:t>프로젝트 현황 </a:t>
            </a:r>
            <a:r>
              <a:rPr lang="en-US" altLang="ko-KR" dirty="0"/>
              <a:t>– </a:t>
            </a:r>
            <a:r>
              <a:rPr lang="ko-KR" altLang="en-US" dirty="0"/>
              <a:t>모델 개선방안 논의</a:t>
            </a:r>
            <a:endParaRPr spc="-25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93BE0A-E483-637C-EC11-3611945CEAE8}"/>
              </a:ext>
            </a:extLst>
          </p:cNvPr>
          <p:cNvSpPr txBox="1"/>
          <p:nvPr/>
        </p:nvSpPr>
        <p:spPr>
          <a:xfrm>
            <a:off x="1447800" y="734587"/>
            <a:ext cx="3718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n-ea"/>
                <a:ea typeface="+mn-ea"/>
              </a:rPr>
              <a:t>(2) </a:t>
            </a:r>
            <a:r>
              <a:rPr lang="ko-KR" altLang="en-US" b="1" dirty="0">
                <a:latin typeface="+mn-ea"/>
                <a:ea typeface="+mn-ea"/>
              </a:rPr>
              <a:t>손실함수 개선</a:t>
            </a:r>
            <a:endParaRPr lang="en-US" altLang="ko-KR" dirty="0">
              <a:latin typeface="+mn-ea"/>
              <a:ea typeface="+mn-ea"/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4D51DC6A-BC30-BC41-1DCB-7F939DBAD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089505"/>
            <a:ext cx="3225240" cy="1451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279711D-8616-1ED5-F47B-77B3D36F446A}"/>
              </a:ext>
            </a:extLst>
          </p:cNvPr>
          <p:cNvSpPr txBox="1"/>
          <p:nvPr/>
        </p:nvSpPr>
        <p:spPr>
          <a:xfrm>
            <a:off x="2971800" y="1176060"/>
            <a:ext cx="560126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측정학습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(metric learning)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한 방법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두 대상이 갖는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특성의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차이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집중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학습할 때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분류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아닌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거리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라는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metric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통해 차이를 고려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7E600A-1C7A-EDE0-01CC-34469765F5A3}"/>
              </a:ext>
            </a:extLst>
          </p:cNvPr>
          <p:cNvSpPr txBox="1"/>
          <p:nvPr/>
        </p:nvSpPr>
        <p:spPr>
          <a:xfrm>
            <a:off x="4820022" y="4447560"/>
            <a:ext cx="36190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SPEECH (z)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유사한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” MUSIC (z+)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쌍을 학습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3911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47FFB-9D1E-AE3E-460C-001A0C028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3E934477-AB7B-D95E-904A-9B43499224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499556"/>
                  </p:ext>
                </p:extLst>
              </p:nvPr>
            </p:nvGraphicFramePr>
            <p:xfrm>
              <a:off x="4197261" y="2023886"/>
              <a:ext cx="3967348" cy="12889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1837">
                      <a:extLst>
                        <a:ext uri="{9D8B030D-6E8A-4147-A177-3AD203B41FA5}">
                          <a16:colId xmlns:a16="http://schemas.microsoft.com/office/drawing/2014/main" val="1489174576"/>
                        </a:ext>
                      </a:extLst>
                    </a:gridCol>
                    <a:gridCol w="991837">
                      <a:extLst>
                        <a:ext uri="{9D8B030D-6E8A-4147-A177-3AD203B41FA5}">
                          <a16:colId xmlns:a16="http://schemas.microsoft.com/office/drawing/2014/main" val="3410625555"/>
                        </a:ext>
                      </a:extLst>
                    </a:gridCol>
                    <a:gridCol w="991837">
                      <a:extLst>
                        <a:ext uri="{9D8B030D-6E8A-4147-A177-3AD203B41FA5}">
                          <a16:colId xmlns:a16="http://schemas.microsoft.com/office/drawing/2014/main" val="4090368780"/>
                        </a:ext>
                      </a:extLst>
                    </a:gridCol>
                    <a:gridCol w="991837">
                      <a:extLst>
                        <a:ext uri="{9D8B030D-6E8A-4147-A177-3AD203B41FA5}">
                          <a16:colId xmlns:a16="http://schemas.microsoft.com/office/drawing/2014/main" val="3370129437"/>
                        </a:ext>
                      </a:extLst>
                    </a:gridCol>
                  </a:tblGrid>
                  <a:tr h="288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anchor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positive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negative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margin</a:t>
                          </a:r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3191735"/>
                      </a:ext>
                    </a:extLst>
                  </a:tr>
                  <a:tr h="28828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15500346"/>
                      </a:ext>
                    </a:extLst>
                  </a:tr>
                  <a:tr h="28828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57781581"/>
                      </a:ext>
                    </a:extLst>
                  </a:tr>
                  <a:tr h="354224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/</m:t>
                                            </m:r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/</m:t>
                                            </m:r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97061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3E934477-AB7B-D95E-904A-9B43499224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499556"/>
                  </p:ext>
                </p:extLst>
              </p:nvPr>
            </p:nvGraphicFramePr>
            <p:xfrm>
              <a:off x="4197261" y="2023886"/>
              <a:ext cx="3967348" cy="12889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1837">
                      <a:extLst>
                        <a:ext uri="{9D8B030D-6E8A-4147-A177-3AD203B41FA5}">
                          <a16:colId xmlns:a16="http://schemas.microsoft.com/office/drawing/2014/main" val="1489174576"/>
                        </a:ext>
                      </a:extLst>
                    </a:gridCol>
                    <a:gridCol w="991837">
                      <a:extLst>
                        <a:ext uri="{9D8B030D-6E8A-4147-A177-3AD203B41FA5}">
                          <a16:colId xmlns:a16="http://schemas.microsoft.com/office/drawing/2014/main" val="3410625555"/>
                        </a:ext>
                      </a:extLst>
                    </a:gridCol>
                    <a:gridCol w="991837">
                      <a:extLst>
                        <a:ext uri="{9D8B030D-6E8A-4147-A177-3AD203B41FA5}">
                          <a16:colId xmlns:a16="http://schemas.microsoft.com/office/drawing/2014/main" val="4090368780"/>
                        </a:ext>
                      </a:extLst>
                    </a:gridCol>
                    <a:gridCol w="991837">
                      <a:extLst>
                        <a:ext uri="{9D8B030D-6E8A-4147-A177-3AD203B41FA5}">
                          <a16:colId xmlns:a16="http://schemas.microsoft.com/office/drawing/2014/main" val="3370129437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anchor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positive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negative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margin</a:t>
                          </a:r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319173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613" t="-104000" r="-302454" b="-2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0613" t="-104000" r="-202454" b="-2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0613" t="-104000" r="-102454" b="-2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00613" t="-104000" r="-2454" b="-22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550034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613" t="-204000" r="-302454" b="-1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0613" t="-204000" r="-202454" b="-1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0613" t="-204000" r="-102454" b="-1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00613" t="-204000" r="-2454" b="-12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7781581"/>
                      </a:ext>
                    </a:extLst>
                  </a:tr>
                  <a:tr h="374523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613" t="-245161" r="-302454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0613" t="-245161" r="-202454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0613" t="-245161" r="-102454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00613" t="-245161" r="-2454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9706178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8" name="그룹 7">
            <a:extLst>
              <a:ext uri="{FF2B5EF4-FFF2-40B4-BE49-F238E27FC236}">
                <a16:creationId xmlns:a16="http://schemas.microsoft.com/office/drawing/2014/main" id="{B643F9F1-41E1-B848-127E-BAE622807CD5}"/>
              </a:ext>
            </a:extLst>
          </p:cNvPr>
          <p:cNvGrpSpPr/>
          <p:nvPr/>
        </p:nvGrpSpPr>
        <p:grpSpPr>
          <a:xfrm>
            <a:off x="1619428" y="2329527"/>
            <a:ext cx="2381310" cy="311392"/>
            <a:chOff x="414266" y="2695145"/>
            <a:chExt cx="2381310" cy="31139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CD319DB-F16A-1860-3207-EBE84122B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6413"/>
            <a:stretch/>
          </p:blipFill>
          <p:spPr>
            <a:xfrm>
              <a:off x="414266" y="2695145"/>
              <a:ext cx="2381310" cy="31139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3FC3EF6-EC52-8370-1B5A-137169C48724}"/>
                </a:ext>
              </a:extLst>
            </p:cNvPr>
            <p:cNvSpPr/>
            <p:nvPr/>
          </p:nvSpPr>
          <p:spPr>
            <a:xfrm>
              <a:off x="505751" y="2726950"/>
              <a:ext cx="2180805" cy="218551"/>
            </a:xfrm>
            <a:prstGeom prst="rect">
              <a:avLst/>
            </a:prstGeom>
            <a:solidFill>
              <a:srgbClr val="FF000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28D94E7-2D4D-77B7-3DFD-ACAFA0C01EE1}"/>
              </a:ext>
            </a:extLst>
          </p:cNvPr>
          <p:cNvSpPr txBox="1"/>
          <p:nvPr/>
        </p:nvSpPr>
        <p:spPr>
          <a:xfrm>
            <a:off x="1561538" y="1182100"/>
            <a:ext cx="55866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n-ea"/>
                <a:ea typeface="+mn-ea"/>
              </a:rPr>
              <a:t>“</a:t>
            </a:r>
            <a:r>
              <a:rPr lang="ko-KR" altLang="en-US" b="1" dirty="0">
                <a:latin typeface="+mn-ea"/>
                <a:ea typeface="+mn-ea"/>
              </a:rPr>
              <a:t>구조 보존하는</a:t>
            </a:r>
            <a:r>
              <a:rPr lang="en-US" altLang="ko-KR" b="1" dirty="0">
                <a:latin typeface="+mn-ea"/>
                <a:ea typeface="+mn-ea"/>
              </a:rPr>
              <a:t>(Structure Preserving)” Triplet loss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D3EB4D9-B717-01AF-4A07-64742D922F9D}"/>
              </a:ext>
            </a:extLst>
          </p:cNvPr>
          <p:cNvGrpSpPr/>
          <p:nvPr/>
        </p:nvGrpSpPr>
        <p:grpSpPr>
          <a:xfrm>
            <a:off x="3973757" y="1649366"/>
            <a:ext cx="3967350" cy="266096"/>
            <a:chOff x="904056" y="1439455"/>
            <a:chExt cx="3967350" cy="266096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DD457B56-C4D4-216F-A569-C9BA3F08B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4455"/>
            <a:stretch/>
          </p:blipFill>
          <p:spPr>
            <a:xfrm>
              <a:off x="904056" y="1457769"/>
              <a:ext cx="3967349" cy="247782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084BDDF-48F1-8785-7B58-F8D8BB355BBE}"/>
                </a:ext>
              </a:extLst>
            </p:cNvPr>
            <p:cNvSpPr/>
            <p:nvPr/>
          </p:nvSpPr>
          <p:spPr>
            <a:xfrm>
              <a:off x="2160573" y="1457769"/>
              <a:ext cx="485523" cy="247782"/>
            </a:xfrm>
            <a:prstGeom prst="rect">
              <a:avLst/>
            </a:prstGeom>
            <a:solidFill>
              <a:srgbClr val="FF000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4100101-A03F-D891-FB17-D6925B0A110E}"/>
                </a:ext>
              </a:extLst>
            </p:cNvPr>
            <p:cNvSpPr/>
            <p:nvPr/>
          </p:nvSpPr>
          <p:spPr>
            <a:xfrm>
              <a:off x="3030466" y="1456915"/>
              <a:ext cx="748515" cy="247782"/>
            </a:xfrm>
            <a:prstGeom prst="rect">
              <a:avLst/>
            </a:prstGeom>
            <a:solidFill>
              <a:srgbClr val="0070C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39C2D86-46E6-7848-649E-96CA8FF7F654}"/>
                </a:ext>
              </a:extLst>
            </p:cNvPr>
            <p:cNvSpPr/>
            <p:nvPr/>
          </p:nvSpPr>
          <p:spPr>
            <a:xfrm>
              <a:off x="4163352" y="1439455"/>
              <a:ext cx="708054" cy="265242"/>
            </a:xfrm>
            <a:prstGeom prst="rect">
              <a:avLst/>
            </a:prstGeom>
            <a:solidFill>
              <a:srgbClr val="00B05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1DFAAAC-F5DB-2666-995A-BCC712B502B3}"/>
              </a:ext>
            </a:extLst>
          </p:cNvPr>
          <p:cNvGrpSpPr/>
          <p:nvPr/>
        </p:nvGrpSpPr>
        <p:grpSpPr>
          <a:xfrm>
            <a:off x="1953675" y="2733718"/>
            <a:ext cx="2042334" cy="543313"/>
            <a:chOff x="748513" y="3099336"/>
            <a:chExt cx="2042334" cy="543313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9E1A50B-307C-E731-EF34-CD9009DED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8513" y="3099336"/>
              <a:ext cx="2042334" cy="54331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4130462-8ABE-1F8F-3973-9FB33F74CABC}"/>
                </a:ext>
              </a:extLst>
            </p:cNvPr>
            <p:cNvSpPr/>
            <p:nvPr/>
          </p:nvSpPr>
          <p:spPr>
            <a:xfrm>
              <a:off x="813921" y="3123210"/>
              <a:ext cx="1913095" cy="243077"/>
            </a:xfrm>
            <a:prstGeom prst="rect">
              <a:avLst/>
            </a:prstGeom>
            <a:solidFill>
              <a:srgbClr val="0070C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9D38CD8B-6E8A-8D9D-6C1F-118C0C1A12E2}"/>
                </a:ext>
              </a:extLst>
            </p:cNvPr>
            <p:cNvSpPr/>
            <p:nvPr/>
          </p:nvSpPr>
          <p:spPr>
            <a:xfrm>
              <a:off x="813920" y="3365490"/>
              <a:ext cx="1913095" cy="243077"/>
            </a:xfrm>
            <a:prstGeom prst="rect">
              <a:avLst/>
            </a:prstGeom>
            <a:solidFill>
              <a:srgbClr val="00B05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E5A7470-E22F-F89A-DCEC-8FE8643FE270}"/>
              </a:ext>
            </a:extLst>
          </p:cNvPr>
          <p:cNvGrpSpPr/>
          <p:nvPr/>
        </p:nvGrpSpPr>
        <p:grpSpPr>
          <a:xfrm>
            <a:off x="1447800" y="3583879"/>
            <a:ext cx="3896545" cy="738664"/>
            <a:chOff x="904055" y="4001602"/>
            <a:chExt cx="3896545" cy="73866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44F6EA4-6D4F-587D-0EC8-C9D9147605A4}"/>
                </a:ext>
              </a:extLst>
            </p:cNvPr>
            <p:cNvSpPr txBox="1"/>
            <p:nvPr/>
          </p:nvSpPr>
          <p:spPr>
            <a:xfrm>
              <a:off x="904055" y="4001602"/>
              <a:ext cx="3896545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dirty="0">
                  <a:solidFill>
                    <a:schemeClr val="tx1"/>
                  </a:solidFill>
                  <a:latin typeface="+mn-ea"/>
                  <a:ea typeface="+mn-ea"/>
                </a:rPr>
                <a:t>SP-Speech, SP-Music</a:t>
              </a:r>
            </a:p>
            <a:p>
              <a:r>
                <a:rPr lang="en-US" altLang="ko-KR" sz="1400" b="1" dirty="0">
                  <a:solidFill>
                    <a:schemeClr val="tx1"/>
                  </a:solidFill>
                  <a:latin typeface="+mn-ea"/>
                  <a:ea typeface="+mn-ea"/>
                </a:rPr>
                <a:t>- </a:t>
              </a:r>
              <a:r>
                <a:rPr lang="ko-KR" altLang="en-US" sz="1400" b="1" dirty="0">
                  <a:solidFill>
                    <a:schemeClr val="tx1"/>
                  </a:solidFill>
                  <a:latin typeface="+mn-ea"/>
                  <a:ea typeface="+mn-ea"/>
                </a:rPr>
                <a:t>도메인 간 유사도 학습</a:t>
              </a:r>
              <a:endParaRPr lang="en-US" altLang="ko-KR" sz="1400" b="1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r>
                <a:rPr lang="en-US" altLang="ko-KR" sz="1400" b="1" dirty="0">
                  <a:solidFill>
                    <a:schemeClr val="tx1"/>
                  </a:solidFill>
                  <a:latin typeface="+mn-ea"/>
                  <a:ea typeface="+mn-ea"/>
                </a:rPr>
                <a:t>- </a:t>
              </a:r>
              <a:r>
                <a:rPr lang="ko-KR" altLang="en-US" sz="1400" b="1" dirty="0">
                  <a:solidFill>
                    <a:schemeClr val="tx1"/>
                  </a:solidFill>
                  <a:latin typeface="+mn-ea"/>
                  <a:ea typeface="+mn-ea"/>
                </a:rPr>
                <a:t>도메인내</a:t>
              </a:r>
              <a:r>
                <a:rPr lang="en-US" altLang="ko-KR" sz="1400" b="1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ko-KR" altLang="en-US" sz="1400" b="1" dirty="0">
                  <a:solidFill>
                    <a:schemeClr val="tx1"/>
                  </a:solidFill>
                  <a:latin typeface="+mn-ea"/>
                  <a:ea typeface="+mn-ea"/>
                </a:rPr>
                <a:t>감정 유사도</a:t>
              </a:r>
              <a:r>
                <a:rPr lang="en-US" altLang="ko-KR" sz="1400" b="1" dirty="0">
                  <a:solidFill>
                    <a:schemeClr val="tx1"/>
                  </a:solidFill>
                  <a:latin typeface="+mn-ea"/>
                  <a:ea typeface="+mn-ea"/>
                </a:rPr>
                <a:t>(</a:t>
              </a:r>
              <a:r>
                <a:rPr lang="ko-KR" altLang="en-US" sz="1400" b="1" dirty="0">
                  <a:solidFill>
                    <a:schemeClr val="tx1"/>
                  </a:solidFill>
                  <a:latin typeface="+mn-ea"/>
                  <a:ea typeface="+mn-ea"/>
                </a:rPr>
                <a:t>감정체계</a:t>
              </a:r>
              <a:r>
                <a:rPr lang="en-US" altLang="ko-KR" sz="1400" b="1" dirty="0">
                  <a:solidFill>
                    <a:schemeClr val="tx1"/>
                  </a:solidFill>
                  <a:latin typeface="+mn-ea"/>
                  <a:ea typeface="+mn-ea"/>
                </a:rPr>
                <a:t>)</a:t>
              </a:r>
              <a:r>
                <a:rPr lang="ko-KR" altLang="en-US" sz="1400" b="1" dirty="0">
                  <a:solidFill>
                    <a:schemeClr val="tx1"/>
                  </a:solidFill>
                  <a:latin typeface="+mn-ea"/>
                  <a:ea typeface="+mn-ea"/>
                </a:rPr>
                <a:t> 학습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659E4EB-CD8D-E4B4-2095-625A0DD00CBA}"/>
                </a:ext>
              </a:extLst>
            </p:cNvPr>
            <p:cNvSpPr/>
            <p:nvPr/>
          </p:nvSpPr>
          <p:spPr>
            <a:xfrm>
              <a:off x="1070171" y="4255851"/>
              <a:ext cx="872808" cy="211001"/>
            </a:xfrm>
            <a:prstGeom prst="rect">
              <a:avLst/>
            </a:prstGeom>
            <a:solidFill>
              <a:srgbClr val="FF000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1A599AC8-5377-BE8E-26A3-72B3ECC5655A}"/>
                </a:ext>
              </a:extLst>
            </p:cNvPr>
            <p:cNvSpPr/>
            <p:nvPr/>
          </p:nvSpPr>
          <p:spPr>
            <a:xfrm>
              <a:off x="1070172" y="4498181"/>
              <a:ext cx="644208" cy="211001"/>
            </a:xfrm>
            <a:prstGeom prst="rect">
              <a:avLst/>
            </a:prstGeom>
            <a:solidFill>
              <a:srgbClr val="0070C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5A8A0D60-5534-9C99-CD2E-8617C03224D4}"/>
                </a:ext>
              </a:extLst>
            </p:cNvPr>
            <p:cNvSpPr/>
            <p:nvPr/>
          </p:nvSpPr>
          <p:spPr>
            <a:xfrm>
              <a:off x="1232639" y="4544807"/>
              <a:ext cx="647858" cy="195459"/>
            </a:xfrm>
            <a:prstGeom prst="rect">
              <a:avLst/>
            </a:prstGeom>
            <a:solidFill>
              <a:srgbClr val="00B05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4" name="object 2">
            <a:extLst>
              <a:ext uri="{FF2B5EF4-FFF2-40B4-BE49-F238E27FC236}">
                <a16:creationId xmlns:a16="http://schemas.microsoft.com/office/drawing/2014/main" id="{F126F885-B184-827D-937F-DA7B4F21E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6197" y="295401"/>
            <a:ext cx="5586603" cy="33406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1. </a:t>
            </a:r>
            <a:r>
              <a:rPr lang="ko-KR" altLang="en-US" dirty="0"/>
              <a:t>프로젝트 현황 </a:t>
            </a:r>
            <a:r>
              <a:rPr lang="en-US" altLang="ko-KR" dirty="0"/>
              <a:t>– </a:t>
            </a:r>
            <a:r>
              <a:rPr lang="ko-KR" altLang="en-US" dirty="0"/>
              <a:t>모델 개선방안 논의</a:t>
            </a:r>
            <a:endParaRPr spc="-25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6DF081-9DE9-A9B4-BD92-D07E47ED0D04}"/>
              </a:ext>
            </a:extLst>
          </p:cNvPr>
          <p:cNvSpPr txBox="1"/>
          <p:nvPr/>
        </p:nvSpPr>
        <p:spPr>
          <a:xfrm>
            <a:off x="1447800" y="734587"/>
            <a:ext cx="3718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n-ea"/>
                <a:ea typeface="+mn-ea"/>
              </a:rPr>
              <a:t>(2) </a:t>
            </a:r>
            <a:r>
              <a:rPr lang="ko-KR" altLang="en-US" b="1" dirty="0">
                <a:latin typeface="+mn-ea"/>
                <a:ea typeface="+mn-ea"/>
              </a:rPr>
              <a:t>손실함수 개선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0BA811-D68E-6A5E-C637-1769EF81E229}"/>
              </a:ext>
            </a:extLst>
          </p:cNvPr>
          <p:cNvSpPr txBox="1"/>
          <p:nvPr/>
        </p:nvSpPr>
        <p:spPr>
          <a:xfrm>
            <a:off x="5506812" y="3583879"/>
            <a:ext cx="348635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SP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문제점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타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loss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대비 성능 저조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👉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SPEECH, MUSIC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각각 도메인의 내부 감정체계 구조를 보존하는 것이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SPEECH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유사한 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MUSIC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찾는 목표</a:t>
            </a:r>
            <a:r>
              <a:rPr lang="ko-KR" altLang="en-US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보장하지 못함</a:t>
            </a:r>
            <a:r>
              <a:rPr lang="en-US" altLang="ko-KR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25" name="화살표: 아래쪽 24">
            <a:extLst>
              <a:ext uri="{FF2B5EF4-FFF2-40B4-BE49-F238E27FC236}">
                <a16:creationId xmlns:a16="http://schemas.microsoft.com/office/drawing/2014/main" id="{159A3B9F-05D8-C7B2-2955-A090D2FA7C56}"/>
              </a:ext>
            </a:extLst>
          </p:cNvPr>
          <p:cNvSpPr/>
          <p:nvPr/>
        </p:nvSpPr>
        <p:spPr>
          <a:xfrm rot="16200000">
            <a:off x="4971711" y="3746084"/>
            <a:ext cx="228600" cy="533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161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DB23C-3B87-0E0C-3EB1-789154DE4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4516AD92-A8D4-998F-D7AB-7EED530672C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97261" y="2023886"/>
              <a:ext cx="3967348" cy="12889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1837">
                      <a:extLst>
                        <a:ext uri="{9D8B030D-6E8A-4147-A177-3AD203B41FA5}">
                          <a16:colId xmlns:a16="http://schemas.microsoft.com/office/drawing/2014/main" val="1489174576"/>
                        </a:ext>
                      </a:extLst>
                    </a:gridCol>
                    <a:gridCol w="991837">
                      <a:extLst>
                        <a:ext uri="{9D8B030D-6E8A-4147-A177-3AD203B41FA5}">
                          <a16:colId xmlns:a16="http://schemas.microsoft.com/office/drawing/2014/main" val="3410625555"/>
                        </a:ext>
                      </a:extLst>
                    </a:gridCol>
                    <a:gridCol w="991837">
                      <a:extLst>
                        <a:ext uri="{9D8B030D-6E8A-4147-A177-3AD203B41FA5}">
                          <a16:colId xmlns:a16="http://schemas.microsoft.com/office/drawing/2014/main" val="4090368780"/>
                        </a:ext>
                      </a:extLst>
                    </a:gridCol>
                    <a:gridCol w="991837">
                      <a:extLst>
                        <a:ext uri="{9D8B030D-6E8A-4147-A177-3AD203B41FA5}">
                          <a16:colId xmlns:a16="http://schemas.microsoft.com/office/drawing/2014/main" val="3370129437"/>
                        </a:ext>
                      </a:extLst>
                    </a:gridCol>
                  </a:tblGrid>
                  <a:tr h="288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anchor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positive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negative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margin</a:t>
                          </a:r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3191735"/>
                      </a:ext>
                    </a:extLst>
                  </a:tr>
                  <a:tr h="28828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15500346"/>
                      </a:ext>
                    </a:extLst>
                  </a:tr>
                  <a:tr h="28828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57781581"/>
                      </a:ext>
                    </a:extLst>
                  </a:tr>
                  <a:tr h="354224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/</m:t>
                                            </m:r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/</m:t>
                                            </m:r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97061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4516AD92-A8D4-998F-D7AB-7EED530672C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97261" y="2023886"/>
              <a:ext cx="3967348" cy="12889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1837">
                      <a:extLst>
                        <a:ext uri="{9D8B030D-6E8A-4147-A177-3AD203B41FA5}">
                          <a16:colId xmlns:a16="http://schemas.microsoft.com/office/drawing/2014/main" val="1489174576"/>
                        </a:ext>
                      </a:extLst>
                    </a:gridCol>
                    <a:gridCol w="991837">
                      <a:extLst>
                        <a:ext uri="{9D8B030D-6E8A-4147-A177-3AD203B41FA5}">
                          <a16:colId xmlns:a16="http://schemas.microsoft.com/office/drawing/2014/main" val="3410625555"/>
                        </a:ext>
                      </a:extLst>
                    </a:gridCol>
                    <a:gridCol w="991837">
                      <a:extLst>
                        <a:ext uri="{9D8B030D-6E8A-4147-A177-3AD203B41FA5}">
                          <a16:colId xmlns:a16="http://schemas.microsoft.com/office/drawing/2014/main" val="4090368780"/>
                        </a:ext>
                      </a:extLst>
                    </a:gridCol>
                    <a:gridCol w="991837">
                      <a:extLst>
                        <a:ext uri="{9D8B030D-6E8A-4147-A177-3AD203B41FA5}">
                          <a16:colId xmlns:a16="http://schemas.microsoft.com/office/drawing/2014/main" val="3370129437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anchor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positive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negative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margin</a:t>
                          </a:r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319173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613" t="-104000" r="-302454" b="-2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0613" t="-104000" r="-202454" b="-2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0613" t="-104000" r="-102454" b="-2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00613" t="-104000" r="-2454" b="-22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550034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613" t="-204000" r="-302454" b="-1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0613" t="-204000" r="-202454" b="-1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0613" t="-204000" r="-102454" b="-1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00613" t="-204000" r="-2454" b="-12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7781581"/>
                      </a:ext>
                    </a:extLst>
                  </a:tr>
                  <a:tr h="374523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613" t="-245161" r="-302454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0613" t="-245161" r="-202454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0613" t="-245161" r="-102454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00613" t="-245161" r="-2454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9706178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8" name="그룹 7">
            <a:extLst>
              <a:ext uri="{FF2B5EF4-FFF2-40B4-BE49-F238E27FC236}">
                <a16:creationId xmlns:a16="http://schemas.microsoft.com/office/drawing/2014/main" id="{B8B5257E-9830-186E-BD66-5EEA928CFADA}"/>
              </a:ext>
            </a:extLst>
          </p:cNvPr>
          <p:cNvGrpSpPr/>
          <p:nvPr/>
        </p:nvGrpSpPr>
        <p:grpSpPr>
          <a:xfrm>
            <a:off x="1619428" y="2329527"/>
            <a:ext cx="2381310" cy="311392"/>
            <a:chOff x="414266" y="2695145"/>
            <a:chExt cx="2381310" cy="31139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80042C0-2B98-3C1C-D11A-F3DE0B170D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6413"/>
            <a:stretch/>
          </p:blipFill>
          <p:spPr>
            <a:xfrm>
              <a:off x="414266" y="2695145"/>
              <a:ext cx="2381310" cy="31139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7771B7D-2A90-B56A-59A4-D491C63E799E}"/>
                </a:ext>
              </a:extLst>
            </p:cNvPr>
            <p:cNvSpPr/>
            <p:nvPr/>
          </p:nvSpPr>
          <p:spPr>
            <a:xfrm>
              <a:off x="505751" y="2726950"/>
              <a:ext cx="2180805" cy="218551"/>
            </a:xfrm>
            <a:prstGeom prst="rect">
              <a:avLst/>
            </a:prstGeom>
            <a:solidFill>
              <a:srgbClr val="FF000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E1B50F6-F364-886C-DA8C-1653191604EE}"/>
              </a:ext>
            </a:extLst>
          </p:cNvPr>
          <p:cNvSpPr txBox="1"/>
          <p:nvPr/>
        </p:nvSpPr>
        <p:spPr>
          <a:xfrm>
            <a:off x="1561538" y="1182100"/>
            <a:ext cx="55866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n-ea"/>
                <a:ea typeface="+mn-ea"/>
              </a:rPr>
              <a:t>“</a:t>
            </a:r>
            <a:r>
              <a:rPr lang="ko-KR" altLang="en-US" b="1" dirty="0">
                <a:latin typeface="+mn-ea"/>
                <a:ea typeface="+mn-ea"/>
              </a:rPr>
              <a:t>구조 보존하는</a:t>
            </a:r>
            <a:r>
              <a:rPr lang="en-US" altLang="ko-KR" b="1" dirty="0">
                <a:latin typeface="+mn-ea"/>
                <a:ea typeface="+mn-ea"/>
              </a:rPr>
              <a:t>(Structure Preserving)” Triplet loss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3578F95-0D29-B10C-7C5F-FA85F519943E}"/>
              </a:ext>
            </a:extLst>
          </p:cNvPr>
          <p:cNvGrpSpPr/>
          <p:nvPr/>
        </p:nvGrpSpPr>
        <p:grpSpPr>
          <a:xfrm>
            <a:off x="3973757" y="1649366"/>
            <a:ext cx="3967350" cy="266096"/>
            <a:chOff x="904056" y="1439455"/>
            <a:chExt cx="3967350" cy="266096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3BAB95A-A788-E983-8188-4AE0295C03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4455"/>
            <a:stretch/>
          </p:blipFill>
          <p:spPr>
            <a:xfrm>
              <a:off x="904056" y="1457769"/>
              <a:ext cx="3967349" cy="247782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75F6398-570F-6869-3656-C34938E57E3F}"/>
                </a:ext>
              </a:extLst>
            </p:cNvPr>
            <p:cNvSpPr/>
            <p:nvPr/>
          </p:nvSpPr>
          <p:spPr>
            <a:xfrm>
              <a:off x="2160573" y="1457769"/>
              <a:ext cx="485523" cy="247782"/>
            </a:xfrm>
            <a:prstGeom prst="rect">
              <a:avLst/>
            </a:prstGeom>
            <a:solidFill>
              <a:srgbClr val="FF000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2B58022-0382-1770-7799-56BB55187837}"/>
                </a:ext>
              </a:extLst>
            </p:cNvPr>
            <p:cNvSpPr/>
            <p:nvPr/>
          </p:nvSpPr>
          <p:spPr>
            <a:xfrm>
              <a:off x="3030466" y="1456915"/>
              <a:ext cx="748515" cy="247782"/>
            </a:xfrm>
            <a:prstGeom prst="rect">
              <a:avLst/>
            </a:prstGeom>
            <a:solidFill>
              <a:srgbClr val="0070C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5B33DB3-0935-558F-9E47-E52AC4A4F310}"/>
                </a:ext>
              </a:extLst>
            </p:cNvPr>
            <p:cNvSpPr/>
            <p:nvPr/>
          </p:nvSpPr>
          <p:spPr>
            <a:xfrm>
              <a:off x="4163352" y="1439455"/>
              <a:ext cx="708054" cy="265242"/>
            </a:xfrm>
            <a:prstGeom prst="rect">
              <a:avLst/>
            </a:prstGeom>
            <a:solidFill>
              <a:srgbClr val="00B05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FFCDA06-6369-22F7-F409-9D6FB7541608}"/>
              </a:ext>
            </a:extLst>
          </p:cNvPr>
          <p:cNvGrpSpPr/>
          <p:nvPr/>
        </p:nvGrpSpPr>
        <p:grpSpPr>
          <a:xfrm>
            <a:off x="1953675" y="2733718"/>
            <a:ext cx="2042334" cy="543313"/>
            <a:chOff x="748513" y="3099336"/>
            <a:chExt cx="2042334" cy="543313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4AA8682-6D3B-B4E1-6011-CA352569DE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8513" y="3099336"/>
              <a:ext cx="2042334" cy="54331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8D2BAD1-9A3D-DCEE-5683-F9A89D31504D}"/>
                </a:ext>
              </a:extLst>
            </p:cNvPr>
            <p:cNvSpPr/>
            <p:nvPr/>
          </p:nvSpPr>
          <p:spPr>
            <a:xfrm>
              <a:off x="813921" y="3123210"/>
              <a:ext cx="1913095" cy="243077"/>
            </a:xfrm>
            <a:prstGeom prst="rect">
              <a:avLst/>
            </a:prstGeom>
            <a:solidFill>
              <a:srgbClr val="0070C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626DC651-D477-7E45-4E16-3AD0A8F9BAA5}"/>
                </a:ext>
              </a:extLst>
            </p:cNvPr>
            <p:cNvSpPr/>
            <p:nvPr/>
          </p:nvSpPr>
          <p:spPr>
            <a:xfrm>
              <a:off x="813920" y="3365490"/>
              <a:ext cx="1913095" cy="243077"/>
            </a:xfrm>
            <a:prstGeom prst="rect">
              <a:avLst/>
            </a:prstGeom>
            <a:solidFill>
              <a:srgbClr val="00B05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6A88F497-6030-3CAA-FEB1-FCCFC153B585}"/>
              </a:ext>
            </a:extLst>
          </p:cNvPr>
          <p:cNvGrpSpPr/>
          <p:nvPr/>
        </p:nvGrpSpPr>
        <p:grpSpPr>
          <a:xfrm>
            <a:off x="1447800" y="3583879"/>
            <a:ext cx="3896545" cy="738664"/>
            <a:chOff x="904055" y="4001602"/>
            <a:chExt cx="3896545" cy="73866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2D8780F-F8B4-E873-33D2-5D2950279CB2}"/>
                </a:ext>
              </a:extLst>
            </p:cNvPr>
            <p:cNvSpPr txBox="1"/>
            <p:nvPr/>
          </p:nvSpPr>
          <p:spPr>
            <a:xfrm>
              <a:off x="904055" y="4001602"/>
              <a:ext cx="3896545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dirty="0">
                  <a:solidFill>
                    <a:schemeClr val="tx1"/>
                  </a:solidFill>
                  <a:latin typeface="+mn-ea"/>
                  <a:ea typeface="+mn-ea"/>
                </a:rPr>
                <a:t>SP-Speech, SP-Music</a:t>
              </a:r>
            </a:p>
            <a:p>
              <a:r>
                <a:rPr lang="en-US" altLang="ko-KR" sz="1400" b="1" dirty="0">
                  <a:solidFill>
                    <a:schemeClr val="tx1"/>
                  </a:solidFill>
                  <a:latin typeface="+mn-ea"/>
                  <a:ea typeface="+mn-ea"/>
                </a:rPr>
                <a:t>- </a:t>
              </a:r>
              <a:r>
                <a:rPr lang="ko-KR" altLang="en-US" sz="1400" b="1" dirty="0">
                  <a:solidFill>
                    <a:schemeClr val="tx1"/>
                  </a:solidFill>
                  <a:latin typeface="+mn-ea"/>
                  <a:ea typeface="+mn-ea"/>
                </a:rPr>
                <a:t>도메인 간 유사도 학습</a:t>
              </a:r>
              <a:endParaRPr lang="en-US" altLang="ko-KR" sz="1400" b="1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r>
                <a:rPr lang="en-US" altLang="ko-KR" sz="1400" b="1" dirty="0">
                  <a:solidFill>
                    <a:schemeClr val="tx1"/>
                  </a:solidFill>
                  <a:latin typeface="+mn-ea"/>
                  <a:ea typeface="+mn-ea"/>
                </a:rPr>
                <a:t>- </a:t>
              </a:r>
              <a:r>
                <a:rPr lang="ko-KR" altLang="en-US" sz="1400" b="1" dirty="0">
                  <a:solidFill>
                    <a:schemeClr val="tx1"/>
                  </a:solidFill>
                  <a:latin typeface="+mn-ea"/>
                  <a:ea typeface="+mn-ea"/>
                </a:rPr>
                <a:t>도메인내</a:t>
              </a:r>
              <a:r>
                <a:rPr lang="en-US" altLang="ko-KR" sz="1400" b="1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ko-KR" altLang="en-US" sz="1400" b="1" dirty="0">
                  <a:solidFill>
                    <a:schemeClr val="tx1"/>
                  </a:solidFill>
                  <a:latin typeface="+mn-ea"/>
                  <a:ea typeface="+mn-ea"/>
                </a:rPr>
                <a:t>감정 유사도</a:t>
              </a:r>
              <a:r>
                <a:rPr lang="en-US" altLang="ko-KR" sz="1400" b="1" dirty="0">
                  <a:solidFill>
                    <a:schemeClr val="tx1"/>
                  </a:solidFill>
                  <a:latin typeface="+mn-ea"/>
                  <a:ea typeface="+mn-ea"/>
                </a:rPr>
                <a:t>(</a:t>
              </a:r>
              <a:r>
                <a:rPr lang="ko-KR" altLang="en-US" sz="1400" b="1" dirty="0">
                  <a:solidFill>
                    <a:schemeClr val="tx1"/>
                  </a:solidFill>
                  <a:latin typeface="+mn-ea"/>
                  <a:ea typeface="+mn-ea"/>
                </a:rPr>
                <a:t>감정체계</a:t>
              </a:r>
              <a:r>
                <a:rPr lang="en-US" altLang="ko-KR" sz="1400" b="1" dirty="0">
                  <a:solidFill>
                    <a:schemeClr val="tx1"/>
                  </a:solidFill>
                  <a:latin typeface="+mn-ea"/>
                  <a:ea typeface="+mn-ea"/>
                </a:rPr>
                <a:t>)</a:t>
              </a:r>
              <a:r>
                <a:rPr lang="ko-KR" altLang="en-US" sz="1400" b="1" dirty="0">
                  <a:solidFill>
                    <a:schemeClr val="tx1"/>
                  </a:solidFill>
                  <a:latin typeface="+mn-ea"/>
                  <a:ea typeface="+mn-ea"/>
                </a:rPr>
                <a:t> 학습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D51DEC9A-0846-AB41-537F-8B25EBE5EBF0}"/>
                </a:ext>
              </a:extLst>
            </p:cNvPr>
            <p:cNvSpPr/>
            <p:nvPr/>
          </p:nvSpPr>
          <p:spPr>
            <a:xfrm>
              <a:off x="1070171" y="4255851"/>
              <a:ext cx="872808" cy="211001"/>
            </a:xfrm>
            <a:prstGeom prst="rect">
              <a:avLst/>
            </a:prstGeom>
            <a:solidFill>
              <a:srgbClr val="FF000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085692B-748C-3700-5D83-54945A24FE8A}"/>
                </a:ext>
              </a:extLst>
            </p:cNvPr>
            <p:cNvSpPr/>
            <p:nvPr/>
          </p:nvSpPr>
          <p:spPr>
            <a:xfrm>
              <a:off x="1070172" y="4498181"/>
              <a:ext cx="644208" cy="211001"/>
            </a:xfrm>
            <a:prstGeom prst="rect">
              <a:avLst/>
            </a:prstGeom>
            <a:solidFill>
              <a:srgbClr val="0070C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57EE048-EB8E-84E6-45EB-EE7ACF726DE9}"/>
                </a:ext>
              </a:extLst>
            </p:cNvPr>
            <p:cNvSpPr/>
            <p:nvPr/>
          </p:nvSpPr>
          <p:spPr>
            <a:xfrm>
              <a:off x="1232639" y="4544807"/>
              <a:ext cx="647858" cy="195459"/>
            </a:xfrm>
            <a:prstGeom prst="rect">
              <a:avLst/>
            </a:prstGeom>
            <a:solidFill>
              <a:srgbClr val="00B05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4" name="object 2">
            <a:extLst>
              <a:ext uri="{FF2B5EF4-FFF2-40B4-BE49-F238E27FC236}">
                <a16:creationId xmlns:a16="http://schemas.microsoft.com/office/drawing/2014/main" id="{4DF5473D-07DF-2661-CE7C-85C0A9967F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6197" y="295401"/>
            <a:ext cx="5586603" cy="33406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1. </a:t>
            </a:r>
            <a:r>
              <a:rPr lang="ko-KR" altLang="en-US" dirty="0"/>
              <a:t>프로젝트 현황 </a:t>
            </a:r>
            <a:r>
              <a:rPr lang="en-US" altLang="ko-KR" dirty="0"/>
              <a:t>– </a:t>
            </a:r>
            <a:r>
              <a:rPr lang="ko-KR" altLang="en-US" dirty="0"/>
              <a:t>모델 개선방안 논의</a:t>
            </a:r>
            <a:endParaRPr spc="-25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3AA41F-04B3-AE89-66B8-4CFC950A80BE}"/>
              </a:ext>
            </a:extLst>
          </p:cNvPr>
          <p:cNvSpPr txBox="1"/>
          <p:nvPr/>
        </p:nvSpPr>
        <p:spPr>
          <a:xfrm>
            <a:off x="1447800" y="734587"/>
            <a:ext cx="3718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n-ea"/>
                <a:ea typeface="+mn-ea"/>
              </a:rPr>
              <a:t>(2) </a:t>
            </a:r>
            <a:r>
              <a:rPr lang="ko-KR" altLang="en-US" b="1" dirty="0">
                <a:latin typeface="+mn-ea"/>
                <a:ea typeface="+mn-ea"/>
              </a:rPr>
              <a:t>손실함수 개선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D57637-92BA-1FC3-9424-042703C357CA}"/>
              </a:ext>
            </a:extLst>
          </p:cNvPr>
          <p:cNvSpPr txBox="1"/>
          <p:nvPr/>
        </p:nvSpPr>
        <p:spPr>
          <a:xfrm>
            <a:off x="5506812" y="3583879"/>
            <a:ext cx="348635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SP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문제점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타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loss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대비 성능 저조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👉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SPEECH, MUSIC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각각 도메인의 내부 감정체계 구조를 보존하는 것이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SPEECH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유사한 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MUSIC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찾는 목표</a:t>
            </a:r>
            <a:r>
              <a:rPr lang="ko-KR" altLang="en-US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보장하지 못함</a:t>
            </a:r>
            <a:r>
              <a:rPr lang="en-US" altLang="ko-KR" sz="14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25" name="화살표: 아래쪽 24">
            <a:extLst>
              <a:ext uri="{FF2B5EF4-FFF2-40B4-BE49-F238E27FC236}">
                <a16:creationId xmlns:a16="http://schemas.microsoft.com/office/drawing/2014/main" id="{CC927152-30EF-2301-F20E-8D6E5356CFA3}"/>
              </a:ext>
            </a:extLst>
          </p:cNvPr>
          <p:cNvSpPr/>
          <p:nvPr/>
        </p:nvSpPr>
        <p:spPr>
          <a:xfrm rot="16200000">
            <a:off x="4971711" y="3746084"/>
            <a:ext cx="228600" cy="533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831E233-E060-D8C5-3D3D-9234B0EE598E}"/>
              </a:ext>
            </a:extLst>
          </p:cNvPr>
          <p:cNvSpPr/>
          <p:nvPr/>
        </p:nvSpPr>
        <p:spPr>
          <a:xfrm>
            <a:off x="1321126" y="295401"/>
            <a:ext cx="7689930" cy="4611918"/>
          </a:xfrm>
          <a:prstGeom prst="rect">
            <a:avLst/>
          </a:prstGeom>
          <a:solidFill>
            <a:schemeClr val="bg1">
              <a:alpha val="8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78EA5F-A395-6ABA-B545-E304A421502A}"/>
              </a:ext>
            </a:extLst>
          </p:cNvPr>
          <p:cNvSpPr txBox="1"/>
          <p:nvPr/>
        </p:nvSpPr>
        <p:spPr>
          <a:xfrm>
            <a:off x="2810083" y="2426870"/>
            <a:ext cx="42557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(a)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다른 </a:t>
            </a:r>
            <a:r>
              <a:rPr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멀티모달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도메인에서 사용되는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loss</a:t>
            </a:r>
          </a:p>
          <a:p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(b)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다른 감정 분석에서 사용되는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loss</a:t>
            </a:r>
          </a:p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추가적으로 탐색</a:t>
            </a:r>
            <a:endParaRPr lang="en-US" altLang="ko-KR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2493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72AA5-593F-0CC4-90EC-D9D7CFCDA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54EA53-1550-E2B5-1C6C-8E79DA4489BB}"/>
              </a:ext>
            </a:extLst>
          </p:cNvPr>
          <p:cNvSpPr txBox="1"/>
          <p:nvPr/>
        </p:nvSpPr>
        <p:spPr>
          <a:xfrm>
            <a:off x="1828800" y="1069864"/>
            <a:ext cx="31628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Both"/>
            </a:pPr>
            <a:r>
              <a:rPr lang="ko-KR" altLang="en-US" sz="1600" dirty="0">
                <a:latin typeface="+mn-ea"/>
                <a:ea typeface="+mn-ea"/>
              </a:rPr>
              <a:t>코드 분석</a:t>
            </a:r>
            <a:endParaRPr lang="en-US" altLang="ko-KR" sz="1600" dirty="0">
              <a:latin typeface="+mn-ea"/>
              <a:ea typeface="+mn-ea"/>
            </a:endParaRPr>
          </a:p>
          <a:p>
            <a:pPr marL="342900" indent="-342900">
              <a:buAutoNum type="arabicParenBoth"/>
            </a:pPr>
            <a:r>
              <a:rPr lang="ko-KR" altLang="en-US" sz="1600" dirty="0">
                <a:latin typeface="+mn-ea"/>
                <a:ea typeface="+mn-ea"/>
              </a:rPr>
              <a:t>손실함수 개선방안 탐색</a:t>
            </a:r>
            <a:endParaRPr lang="en-US" altLang="ko-KR" sz="1600" dirty="0">
              <a:latin typeface="+mn-ea"/>
              <a:ea typeface="+mn-ea"/>
            </a:endParaRPr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C75A8FA3-A7C8-5D7A-1B1B-CC22BE0750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6197" y="295401"/>
            <a:ext cx="5586603" cy="33406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25" dirty="0"/>
              <a:t>2. </a:t>
            </a:r>
            <a:r>
              <a:rPr lang="ko-KR" altLang="en-US" spc="-25" dirty="0"/>
              <a:t>프로젝트 진행계획</a:t>
            </a:r>
            <a:endParaRPr spc="-25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C6E261E-E5F8-B693-716A-29EA4C93C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056540"/>
            <a:ext cx="3810000" cy="279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1867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7;p14">
            <a:extLst>
              <a:ext uri="{FF2B5EF4-FFF2-40B4-BE49-F238E27FC236}">
                <a16:creationId xmlns:a16="http://schemas.microsoft.com/office/drawing/2014/main" id="{80455657-0C10-776D-48E5-64135E70D004}"/>
              </a:ext>
            </a:extLst>
          </p:cNvPr>
          <p:cNvSpPr txBox="1"/>
          <p:nvPr/>
        </p:nvSpPr>
        <p:spPr>
          <a:xfrm>
            <a:off x="1993079" y="2340932"/>
            <a:ext cx="3273365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b="1" dirty="0">
                <a:latin typeface="+mj-ea"/>
                <a:ea typeface="+mj-ea"/>
              </a:rPr>
              <a:t>이상입니다</a:t>
            </a:r>
            <a:r>
              <a:rPr lang="en-US" altLang="ko-KR" sz="2800" b="1" dirty="0">
                <a:latin typeface="+mj-ea"/>
                <a:ea typeface="+mj-ea"/>
              </a:rPr>
              <a:t>.</a:t>
            </a:r>
          </a:p>
        </p:txBody>
      </p:sp>
      <p:sp>
        <p:nvSpPr>
          <p:cNvPr id="3" name="Google Shape;67;p14">
            <a:extLst>
              <a:ext uri="{FF2B5EF4-FFF2-40B4-BE49-F238E27FC236}">
                <a16:creationId xmlns:a16="http://schemas.microsoft.com/office/drawing/2014/main" id="{7AE82D84-8483-4638-175E-B34197DF8C25}"/>
              </a:ext>
            </a:extLst>
          </p:cNvPr>
          <p:cNvSpPr txBox="1"/>
          <p:nvPr/>
        </p:nvSpPr>
        <p:spPr>
          <a:xfrm>
            <a:off x="1181088" y="4774198"/>
            <a:ext cx="3273365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>
                <a:latin typeface="+mj-ea"/>
                <a:ea typeface="+mj-ea"/>
              </a:rPr>
              <a:t>ppt </a:t>
            </a:r>
            <a:r>
              <a:rPr lang="ko-KR" altLang="en-US" sz="1100" dirty="0">
                <a:latin typeface="+mj-ea"/>
                <a:ea typeface="+mj-ea"/>
              </a:rPr>
              <a:t>제작</a:t>
            </a:r>
            <a:r>
              <a:rPr lang="en-US" altLang="ko-KR" sz="1100" dirty="0">
                <a:latin typeface="+mj-ea"/>
                <a:ea typeface="+mj-ea"/>
              </a:rPr>
              <a:t>: </a:t>
            </a:r>
            <a:r>
              <a:rPr lang="ko-KR" altLang="en-US" sz="1100" b="1" dirty="0">
                <a:latin typeface="+mj-ea"/>
                <a:ea typeface="+mj-ea"/>
              </a:rPr>
              <a:t>문주일</a:t>
            </a:r>
            <a:endParaRPr lang="en-US" altLang="ko-KR" sz="1100" b="1" dirty="0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1F7E88-7F44-39E2-ADC6-23817BB85A58}"/>
              </a:ext>
            </a:extLst>
          </p:cNvPr>
          <p:cNvSpPr/>
          <p:nvPr/>
        </p:nvSpPr>
        <p:spPr>
          <a:xfrm>
            <a:off x="2357625" y="89450"/>
            <a:ext cx="2176757" cy="21086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28266D-2B18-E320-6C83-48002D27EF1F}"/>
              </a:ext>
            </a:extLst>
          </p:cNvPr>
          <p:cNvSpPr/>
          <p:nvPr/>
        </p:nvSpPr>
        <p:spPr>
          <a:xfrm>
            <a:off x="3760021" y="193262"/>
            <a:ext cx="2108829" cy="8320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8965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</TotalTime>
  <Words>490</Words>
  <Application>Microsoft Office PowerPoint</Application>
  <PresentationFormat>화면 슬라이드 쇼(16:9)</PresentationFormat>
  <Paragraphs>121</Paragraphs>
  <Slides>11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Calibri</vt:lpstr>
      <vt:lpstr>Cambria Math</vt:lpstr>
      <vt:lpstr>Office Theme</vt:lpstr>
      <vt:lpstr>PowerPoint 프레젠테이션</vt:lpstr>
      <vt:lpstr>PowerPoint 프레젠테이션</vt:lpstr>
      <vt:lpstr>스터디원 소개 및 만남 인증</vt:lpstr>
      <vt:lpstr>1. 프로젝트 현황</vt:lpstr>
      <vt:lpstr>1. 프로젝트 현황</vt:lpstr>
      <vt:lpstr>1. 프로젝트 현황 – 모델 개선방안 논의</vt:lpstr>
      <vt:lpstr>1. 프로젝트 현황 – 모델 개선방안 논의</vt:lpstr>
      <vt:lpstr>1. 프로젝트 현황 – 모델 개선방안 논의</vt:lpstr>
      <vt:lpstr>1. 프로젝트 현황 – 모델 개선방안 논의</vt:lpstr>
      <vt:lpstr>2. 프로젝트 진행계획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조효원</dc:creator>
  <cp:lastModifiedBy>Juil Moon</cp:lastModifiedBy>
  <cp:revision>60</cp:revision>
  <dcterms:created xsi:type="dcterms:W3CDTF">2024-09-13T12:33:40Z</dcterms:created>
  <dcterms:modified xsi:type="dcterms:W3CDTF">2024-11-11T11:07:30Z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2024-09-13T00:00:00Z</vt:filetime>
  </property>
  <property fmtid="{D5CDD505-2E9C-101B-9397-08002B2CF9AE}" pid="3" name="Creator">
    <vt:lpwstr>Microsoft® PowerPoint® Microsoft 365용</vt:lpwstr>
  </property>
  <property fmtid="{D5CDD505-2E9C-101B-9397-08002B2CF9AE}" pid="4" name="LastSaved">
    <vt:filetime>2024-09-13T00:00:00Z</vt:filetime>
  </property>
</Properties>
</file>