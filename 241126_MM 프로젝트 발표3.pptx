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5" r:id="rId5"/>
    <p:sldId id="285" r:id="rId6"/>
    <p:sldId id="286" r:id="rId7"/>
    <p:sldId id="290" r:id="rId8"/>
    <p:sldId id="276" r:id="rId9"/>
    <p:sldId id="277" r:id="rId10"/>
    <p:sldId id="278" r:id="rId11"/>
    <p:sldId id="281" r:id="rId12"/>
    <p:sldId id="284" r:id="rId13"/>
    <p:sldId id="282" r:id="rId14"/>
    <p:sldId id="280" r:id="rId15"/>
    <p:sldId id="283" r:id="rId16"/>
    <p:sldId id="289" r:id="rId17"/>
    <p:sldId id="287" r:id="rId18"/>
    <p:sldId id="271" r:id="rId19"/>
    <p:sldId id="273" r:id="rId20"/>
    <p:sldId id="263" r:id="rId2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41A7E-52B3-4A8C-BDD5-A5757A271E18}" v="29" dt="2024-09-23T14:31:22.724"/>
    <p1510:client id="{62E10AE2-AF50-4B99-A19E-A8C6A8F4CA61}" v="13" dt="2024-09-23T11:47:07.44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742" autoAdjust="0"/>
  </p:normalViewPr>
  <p:slideViewPr>
    <p:cSldViewPr>
      <p:cViewPr varScale="1">
        <p:scale>
          <a:sx n="63" d="100"/>
          <a:sy n="63" d="100"/>
        </p:scale>
        <p:origin x="138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효원 조" userId="bc6a08bd60ab1b8f" providerId="LiveId" clId="{1C441A7E-52B3-4A8C-BDD5-A5757A271E18}"/>
    <pc:docChg chg="custSel addSld delSld modSld">
      <pc:chgData name="효원 조" userId="bc6a08bd60ab1b8f" providerId="LiveId" clId="{1C441A7E-52B3-4A8C-BDD5-A5757A271E18}" dt="2024-09-23T14:34:20.537" v="2693" actId="20577"/>
      <pc:docMkLst>
        <pc:docMk/>
      </pc:docMkLst>
      <pc:sldChg chg="modSp mod">
        <pc:chgData name="효원 조" userId="bc6a08bd60ab1b8f" providerId="LiveId" clId="{1C441A7E-52B3-4A8C-BDD5-A5757A271E18}" dt="2024-09-23T14:10:32.079" v="2439" actId="20577"/>
        <pc:sldMkLst>
          <pc:docMk/>
          <pc:sldMk cId="0" sldId="256"/>
        </pc:sldMkLst>
        <pc:spChg chg="mod">
          <ac:chgData name="효원 조" userId="bc6a08bd60ab1b8f" providerId="LiveId" clId="{1C441A7E-52B3-4A8C-BDD5-A5757A271E18}" dt="2024-09-23T14:10:32.079" v="2439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효원 조" userId="bc6a08bd60ab1b8f" providerId="LiveId" clId="{1C441A7E-52B3-4A8C-BDD5-A5757A271E18}" dt="2024-09-23T13:31:09.592" v="17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modSp mod">
        <pc:chgData name="효원 조" userId="bc6a08bd60ab1b8f" providerId="LiveId" clId="{1C441A7E-52B3-4A8C-BDD5-A5757A271E18}" dt="2024-09-23T13:36:58.634" v="222" actId="20577"/>
        <pc:sldMkLst>
          <pc:docMk/>
          <pc:sldMk cId="0" sldId="258"/>
        </pc:sldMkLst>
        <pc:spChg chg="add mod">
          <ac:chgData name="효원 조" userId="bc6a08bd60ab1b8f" providerId="LiveId" clId="{1C441A7E-52B3-4A8C-BDD5-A5757A271E18}" dt="2024-09-23T13:36:58.634" v="222" actId="20577"/>
          <ac:spMkLst>
            <pc:docMk/>
            <pc:sldMk cId="0" sldId="258"/>
            <ac:spMk id="7" creationId="{89E78799-D439-8F2F-5B42-90ACA2C99062}"/>
          </ac:spMkLst>
        </pc:spChg>
      </pc:sldChg>
      <pc:sldChg chg="addSp delSp modSp mod">
        <pc:chgData name="효원 조" userId="bc6a08bd60ab1b8f" providerId="LiveId" clId="{1C441A7E-52B3-4A8C-BDD5-A5757A271E18}" dt="2024-09-23T14:01:59.687" v="1630" actId="478"/>
        <pc:sldMkLst>
          <pc:docMk/>
          <pc:sldMk cId="0" sldId="259"/>
        </pc:sldMkLst>
        <pc:picChg chg="del">
          <ac:chgData name="효원 조" userId="bc6a08bd60ab1b8f" providerId="LiveId" clId="{1C441A7E-52B3-4A8C-BDD5-A5757A271E18}" dt="2024-09-23T13:57:26.757" v="1618" actId="478"/>
          <ac:picMkLst>
            <pc:docMk/>
            <pc:sldMk cId="0" sldId="259"/>
            <ac:picMk id="11" creationId="{246080AF-AEED-55D4-C7DC-41CFA7026B03}"/>
          </ac:picMkLst>
        </pc:picChg>
        <pc:picChg chg="add mod">
          <ac:chgData name="효원 조" userId="bc6a08bd60ab1b8f" providerId="LiveId" clId="{1C441A7E-52B3-4A8C-BDD5-A5757A271E18}" dt="2024-09-23T13:57:34.111" v="1621" actId="1076"/>
          <ac:picMkLst>
            <pc:docMk/>
            <pc:sldMk cId="0" sldId="259"/>
            <ac:picMk id="2050" creationId="{0953D884-B948-1C84-2B63-46F4AF632D0C}"/>
          </ac:picMkLst>
        </pc:picChg>
        <pc:picChg chg="add del mod">
          <ac:chgData name="효원 조" userId="bc6a08bd60ab1b8f" providerId="LiveId" clId="{1C441A7E-52B3-4A8C-BDD5-A5757A271E18}" dt="2024-09-23T14:01:59.687" v="1630" actId="478"/>
          <ac:picMkLst>
            <pc:docMk/>
            <pc:sldMk cId="0" sldId="259"/>
            <ac:picMk id="2052" creationId="{6886F79A-3B88-2893-374C-19616F0B1C60}"/>
          </ac:picMkLst>
        </pc:picChg>
      </pc:sldChg>
      <pc:sldChg chg="addSp delSp modSp mod modNotesTx">
        <pc:chgData name="효원 조" userId="bc6a08bd60ab1b8f" providerId="LiveId" clId="{1C441A7E-52B3-4A8C-BDD5-A5757A271E18}" dt="2024-09-23T14:07:49.111" v="2436" actId="14100"/>
        <pc:sldMkLst>
          <pc:docMk/>
          <pc:sldMk cId="2408964362" sldId="260"/>
        </pc:sldMkLst>
        <pc:spChg chg="mod">
          <ac:chgData name="효원 조" userId="bc6a08bd60ab1b8f" providerId="LiveId" clId="{1C441A7E-52B3-4A8C-BDD5-A5757A271E18}" dt="2024-09-23T13:39:26.130" v="268" actId="20577"/>
          <ac:spMkLst>
            <pc:docMk/>
            <pc:sldMk cId="2408964362" sldId="260"/>
            <ac:spMk id="3" creationId="{00000000-0000-0000-0000-000000000000}"/>
          </ac:spMkLst>
        </pc:spChg>
        <pc:spChg chg="mod">
          <ac:chgData name="효원 조" userId="bc6a08bd60ab1b8f" providerId="LiveId" clId="{1C441A7E-52B3-4A8C-BDD5-A5757A271E18}" dt="2024-09-23T14:07:49.111" v="2436" actId="14100"/>
          <ac:spMkLst>
            <pc:docMk/>
            <pc:sldMk cId="2408964362" sldId="260"/>
            <ac:spMk id="8" creationId="{849C194B-5B0C-B9DC-57FC-C6106E3D6D09}"/>
          </ac:spMkLst>
        </pc:spChg>
        <pc:spChg chg="mod">
          <ac:chgData name="효원 조" userId="bc6a08bd60ab1b8f" providerId="LiveId" clId="{1C441A7E-52B3-4A8C-BDD5-A5757A271E18}" dt="2024-09-23T14:04:39.446" v="1677" actId="1076"/>
          <ac:spMkLst>
            <pc:docMk/>
            <pc:sldMk cId="2408964362" sldId="260"/>
            <ac:spMk id="9" creationId="{CF7FFCC4-1E5D-53FC-EE42-B8B822369F3A}"/>
          </ac:spMkLst>
        </pc:spChg>
        <pc:picChg chg="del">
          <ac:chgData name="효원 조" userId="bc6a08bd60ab1b8f" providerId="LiveId" clId="{1C441A7E-52B3-4A8C-BDD5-A5757A271E18}" dt="2024-09-23T13:37:47.897" v="223" actId="478"/>
          <ac:picMkLst>
            <pc:docMk/>
            <pc:sldMk cId="2408964362" sldId="260"/>
            <ac:picMk id="5" creationId="{E5B2ADB3-53B8-6BFD-A2A8-890B99D2146A}"/>
          </ac:picMkLst>
        </pc:picChg>
        <pc:picChg chg="mod">
          <ac:chgData name="효원 조" userId="bc6a08bd60ab1b8f" providerId="LiveId" clId="{1C441A7E-52B3-4A8C-BDD5-A5757A271E18}" dt="2024-09-23T14:04:18.573" v="1672" actId="1076"/>
          <ac:picMkLst>
            <pc:docMk/>
            <pc:sldMk cId="2408964362" sldId="260"/>
            <ac:picMk id="7" creationId="{BA5D96C5-A2EB-1A1C-1080-F6A5DDEABA31}"/>
          </ac:picMkLst>
        </pc:picChg>
        <pc:picChg chg="add mod">
          <ac:chgData name="효원 조" userId="bc6a08bd60ab1b8f" providerId="LiveId" clId="{1C441A7E-52B3-4A8C-BDD5-A5757A271E18}" dt="2024-09-23T13:59:47.091" v="1623" actId="1076"/>
          <ac:picMkLst>
            <pc:docMk/>
            <pc:sldMk cId="2408964362" sldId="260"/>
            <ac:picMk id="1026" creationId="{AD7165BE-94A1-0A07-8029-041A485107FD}"/>
          </ac:picMkLst>
        </pc:picChg>
        <pc:picChg chg="add mod">
          <ac:chgData name="효원 조" userId="bc6a08bd60ab1b8f" providerId="LiveId" clId="{1C441A7E-52B3-4A8C-BDD5-A5757A271E18}" dt="2024-09-23T13:59:54.887" v="1626" actId="1076"/>
          <ac:picMkLst>
            <pc:docMk/>
            <pc:sldMk cId="2408964362" sldId="260"/>
            <ac:picMk id="1028" creationId="{61CCD3E3-851D-C6B3-C2D1-0989F3574F55}"/>
          </ac:picMkLst>
        </pc:picChg>
        <pc:picChg chg="add mod">
          <ac:chgData name="효원 조" userId="bc6a08bd60ab1b8f" providerId="LiveId" clId="{1C441A7E-52B3-4A8C-BDD5-A5757A271E18}" dt="2024-09-23T14:07:33.425" v="2392" actId="14100"/>
          <ac:picMkLst>
            <pc:docMk/>
            <pc:sldMk cId="2408964362" sldId="260"/>
            <ac:picMk id="1030" creationId="{2F6B0A30-D4B7-F03E-5A06-8EF3CD92A3F0}"/>
          </ac:picMkLst>
        </pc:picChg>
      </pc:sldChg>
      <pc:sldChg chg="addSp modSp mod modNotesTx">
        <pc:chgData name="효원 조" userId="bc6a08bd60ab1b8f" providerId="LiveId" clId="{1C441A7E-52B3-4A8C-BDD5-A5757A271E18}" dt="2024-09-23T13:44:30.254" v="679" actId="1076"/>
        <pc:sldMkLst>
          <pc:docMk/>
          <pc:sldMk cId="2440783993" sldId="261"/>
        </pc:sldMkLst>
        <pc:spChg chg="add mod">
          <ac:chgData name="효원 조" userId="bc6a08bd60ab1b8f" providerId="LiveId" clId="{1C441A7E-52B3-4A8C-BDD5-A5757A271E18}" dt="2024-09-23T13:41:49.623" v="337" actId="1076"/>
          <ac:spMkLst>
            <pc:docMk/>
            <pc:sldMk cId="2440783993" sldId="261"/>
            <ac:spMk id="5" creationId="{3807E647-BBD1-BFA3-197D-E9FC2E6F6734}"/>
          </ac:spMkLst>
        </pc:spChg>
        <pc:spChg chg="add mod">
          <ac:chgData name="효원 조" userId="bc6a08bd60ab1b8f" providerId="LiveId" clId="{1C441A7E-52B3-4A8C-BDD5-A5757A271E18}" dt="2024-09-23T13:44:30.254" v="679" actId="1076"/>
          <ac:spMkLst>
            <pc:docMk/>
            <pc:sldMk cId="2440783993" sldId="261"/>
            <ac:spMk id="8" creationId="{920315F3-E07A-92EB-7469-60A681196AAE}"/>
          </ac:spMkLst>
        </pc:spChg>
        <pc:picChg chg="add mod">
          <ac:chgData name="효원 조" userId="bc6a08bd60ab1b8f" providerId="LiveId" clId="{1C441A7E-52B3-4A8C-BDD5-A5757A271E18}" dt="2024-09-23T13:43:51.045" v="594" actId="1076"/>
          <ac:picMkLst>
            <pc:docMk/>
            <pc:sldMk cId="2440783993" sldId="261"/>
            <ac:picMk id="7" creationId="{E9AACCF4-7528-2A81-CF5B-2DBBE4B0D1D5}"/>
          </ac:picMkLst>
        </pc:picChg>
      </pc:sldChg>
      <pc:sldChg chg="modNotesTx">
        <pc:chgData name="효원 조" userId="bc6a08bd60ab1b8f" providerId="LiveId" clId="{1C441A7E-52B3-4A8C-BDD5-A5757A271E18}" dt="2024-09-23T13:54:58.973" v="1613" actId="20577"/>
        <pc:sldMkLst>
          <pc:docMk/>
          <pc:sldMk cId="2104177587" sldId="262"/>
        </pc:sldMkLst>
      </pc:sldChg>
      <pc:sldChg chg="modSp mod">
        <pc:chgData name="효원 조" userId="bc6a08bd60ab1b8f" providerId="LiveId" clId="{1C441A7E-52B3-4A8C-BDD5-A5757A271E18}" dt="2024-09-23T13:55:14.065" v="1617" actId="20577"/>
        <pc:sldMkLst>
          <pc:docMk/>
          <pc:sldMk cId="3287760024" sldId="263"/>
        </pc:sldMkLst>
        <pc:spChg chg="mod">
          <ac:chgData name="효원 조" userId="bc6a08bd60ab1b8f" providerId="LiveId" clId="{1C441A7E-52B3-4A8C-BDD5-A5757A271E18}" dt="2024-09-23T13:55:14.065" v="1617" actId="20577"/>
          <ac:spMkLst>
            <pc:docMk/>
            <pc:sldMk cId="3287760024" sldId="263"/>
            <ac:spMk id="3" creationId="{00000000-0000-0000-0000-000000000000}"/>
          </ac:spMkLst>
        </pc:spChg>
      </pc:sldChg>
      <pc:sldChg chg="addSp delSp modSp add mod modNotesTx">
        <pc:chgData name="효원 조" userId="bc6a08bd60ab1b8f" providerId="LiveId" clId="{1C441A7E-52B3-4A8C-BDD5-A5757A271E18}" dt="2024-09-23T14:34:20.537" v="2693" actId="20577"/>
        <pc:sldMkLst>
          <pc:docMk/>
          <pc:sldMk cId="453315871" sldId="264"/>
        </pc:sldMkLst>
        <pc:spChg chg="mod">
          <ac:chgData name="효원 조" userId="bc6a08bd60ab1b8f" providerId="LiveId" clId="{1C441A7E-52B3-4A8C-BDD5-A5757A271E18}" dt="2024-09-23T14:32:14.038" v="2550" actId="20577"/>
          <ac:spMkLst>
            <pc:docMk/>
            <pc:sldMk cId="453315871" sldId="264"/>
            <ac:spMk id="2" creationId="{00000000-0000-0000-0000-000000000000}"/>
          </ac:spMkLst>
        </pc:spChg>
        <pc:spChg chg="del">
          <ac:chgData name="효원 조" userId="bc6a08bd60ab1b8f" providerId="LiveId" clId="{1C441A7E-52B3-4A8C-BDD5-A5757A271E18}" dt="2024-09-23T14:30:04.178" v="2443" actId="478"/>
          <ac:spMkLst>
            <pc:docMk/>
            <pc:sldMk cId="453315871" sldId="264"/>
            <ac:spMk id="3" creationId="{00000000-0000-0000-0000-000000000000}"/>
          </ac:spMkLst>
        </pc:spChg>
        <pc:spChg chg="del">
          <ac:chgData name="효원 조" userId="bc6a08bd60ab1b8f" providerId="LiveId" clId="{1C441A7E-52B3-4A8C-BDD5-A5757A271E18}" dt="2024-09-23T14:30:04.178" v="2443" actId="478"/>
          <ac:spMkLst>
            <pc:docMk/>
            <pc:sldMk cId="453315871" sldId="264"/>
            <ac:spMk id="4" creationId="{F8BD761B-CC37-1804-2CF9-4BB172540826}"/>
          </ac:spMkLst>
        </pc:spChg>
        <pc:spChg chg="del">
          <ac:chgData name="효원 조" userId="bc6a08bd60ab1b8f" providerId="LiveId" clId="{1C441A7E-52B3-4A8C-BDD5-A5757A271E18}" dt="2024-09-23T14:30:01.536" v="2442" actId="478"/>
          <ac:spMkLst>
            <pc:docMk/>
            <pc:sldMk cId="453315871" sldId="264"/>
            <ac:spMk id="5" creationId="{3807E647-BBD1-BFA3-197D-E9FC2E6F6734}"/>
          </ac:spMkLst>
        </pc:spChg>
        <pc:spChg chg="del">
          <ac:chgData name="효원 조" userId="bc6a08bd60ab1b8f" providerId="LiveId" clId="{1C441A7E-52B3-4A8C-BDD5-A5757A271E18}" dt="2024-09-23T14:30:01.536" v="2442" actId="478"/>
          <ac:spMkLst>
            <pc:docMk/>
            <pc:sldMk cId="453315871" sldId="264"/>
            <ac:spMk id="8" creationId="{920315F3-E07A-92EB-7469-60A681196AAE}"/>
          </ac:spMkLst>
        </pc:spChg>
        <pc:spChg chg="add del mod">
          <ac:chgData name="효원 조" userId="bc6a08bd60ab1b8f" providerId="LiveId" clId="{1C441A7E-52B3-4A8C-BDD5-A5757A271E18}" dt="2024-09-23T14:32:17.183" v="2551" actId="478"/>
          <ac:spMkLst>
            <pc:docMk/>
            <pc:sldMk cId="453315871" sldId="264"/>
            <ac:spMk id="10" creationId="{D41ABBA1-1AC2-1033-8E9C-1FBD6C9E8A28}"/>
          </ac:spMkLst>
        </pc:spChg>
        <pc:picChg chg="del">
          <ac:chgData name="효원 조" userId="bc6a08bd60ab1b8f" providerId="LiveId" clId="{1C441A7E-52B3-4A8C-BDD5-A5757A271E18}" dt="2024-09-23T14:30:01.536" v="2442" actId="478"/>
          <ac:picMkLst>
            <pc:docMk/>
            <pc:sldMk cId="453315871" sldId="264"/>
            <ac:picMk id="7" creationId="{E9AACCF4-7528-2A81-CF5B-2DBBE4B0D1D5}"/>
          </ac:picMkLst>
        </pc:picChg>
        <pc:picChg chg="add mod">
          <ac:chgData name="효원 조" userId="bc6a08bd60ab1b8f" providerId="LiveId" clId="{1C441A7E-52B3-4A8C-BDD5-A5757A271E18}" dt="2024-09-23T14:34:00.848" v="2569" actId="1076"/>
          <ac:picMkLst>
            <pc:docMk/>
            <pc:sldMk cId="453315871" sldId="264"/>
            <ac:picMk id="9" creationId="{04FA460A-422A-55D4-D86C-ECBD2FEA31F7}"/>
          </ac:picMkLst>
        </pc:picChg>
        <pc:picChg chg="add mod modCrop">
          <ac:chgData name="효원 조" userId="bc6a08bd60ab1b8f" providerId="LiveId" clId="{1C441A7E-52B3-4A8C-BDD5-A5757A271E18}" dt="2024-09-23T14:33:15.689" v="2559" actId="1076"/>
          <ac:picMkLst>
            <pc:docMk/>
            <pc:sldMk cId="453315871" sldId="264"/>
            <ac:picMk id="12" creationId="{3478B120-1595-B0AF-BCA1-91297C418205}"/>
          </ac:picMkLst>
        </pc:picChg>
        <pc:picChg chg="add mod">
          <ac:chgData name="효원 조" userId="bc6a08bd60ab1b8f" providerId="LiveId" clId="{1C441A7E-52B3-4A8C-BDD5-A5757A271E18}" dt="2024-09-23T14:33:17.734" v="2560" actId="1076"/>
          <ac:picMkLst>
            <pc:docMk/>
            <pc:sldMk cId="453315871" sldId="264"/>
            <ac:picMk id="14" creationId="{0449A263-9529-4897-EB2D-58BD6997A11D}"/>
          </ac:picMkLst>
        </pc:picChg>
        <pc:picChg chg="add mod">
          <ac:chgData name="효원 조" userId="bc6a08bd60ab1b8f" providerId="LiveId" clId="{1C441A7E-52B3-4A8C-BDD5-A5757A271E18}" dt="2024-09-23T14:33:59.627" v="2568" actId="1076"/>
          <ac:picMkLst>
            <pc:docMk/>
            <pc:sldMk cId="453315871" sldId="264"/>
            <ac:picMk id="16" creationId="{EAF75BDE-3E88-D4D0-7721-FB8658FFA7EB}"/>
          </ac:picMkLst>
        </pc:picChg>
      </pc:sldChg>
      <pc:sldChg chg="delSp modSp add del mod">
        <pc:chgData name="효원 조" userId="bc6a08bd60ab1b8f" providerId="LiveId" clId="{1C441A7E-52B3-4A8C-BDD5-A5757A271E18}" dt="2024-09-23T14:08:19.654" v="2437" actId="2696"/>
        <pc:sldMkLst>
          <pc:docMk/>
          <pc:sldMk cId="4271007156" sldId="264"/>
        </pc:sldMkLst>
        <pc:spChg chg="mod">
          <ac:chgData name="효원 조" userId="bc6a08bd60ab1b8f" providerId="LiveId" clId="{1C441A7E-52B3-4A8C-BDD5-A5757A271E18}" dt="2024-09-23T13:44:51.727" v="718" actId="20577"/>
          <ac:spMkLst>
            <pc:docMk/>
            <pc:sldMk cId="4271007156" sldId="264"/>
            <ac:spMk id="2" creationId="{00000000-0000-0000-0000-000000000000}"/>
          </ac:spMkLst>
        </pc:spChg>
        <pc:spChg chg="del">
          <ac:chgData name="효원 조" userId="bc6a08bd60ab1b8f" providerId="LiveId" clId="{1C441A7E-52B3-4A8C-BDD5-A5757A271E18}" dt="2024-09-23T13:44:53.416" v="719" actId="478"/>
          <ac:spMkLst>
            <pc:docMk/>
            <pc:sldMk cId="4271007156" sldId="264"/>
            <ac:spMk id="5" creationId="{3807E647-BBD1-BFA3-197D-E9FC2E6F6734}"/>
          </ac:spMkLst>
        </pc:spChg>
        <pc:spChg chg="del">
          <ac:chgData name="효원 조" userId="bc6a08bd60ab1b8f" providerId="LiveId" clId="{1C441A7E-52B3-4A8C-BDD5-A5757A271E18}" dt="2024-09-23T13:44:53.416" v="719" actId="478"/>
          <ac:spMkLst>
            <pc:docMk/>
            <pc:sldMk cId="4271007156" sldId="264"/>
            <ac:spMk id="8" creationId="{920315F3-E07A-92EB-7469-60A681196AAE}"/>
          </ac:spMkLst>
        </pc:spChg>
        <pc:picChg chg="del">
          <ac:chgData name="효원 조" userId="bc6a08bd60ab1b8f" providerId="LiveId" clId="{1C441A7E-52B3-4A8C-BDD5-A5757A271E18}" dt="2024-09-23T13:44:53.416" v="719" actId="478"/>
          <ac:picMkLst>
            <pc:docMk/>
            <pc:sldMk cId="4271007156" sldId="264"/>
            <ac:picMk id="7" creationId="{E9AACCF4-7528-2A81-CF5B-2DBBE4B0D1D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0FB84-9BA5-4677-8965-30DB32C4F93B}" type="datetimeFigureOut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3989A-C7BE-44C9-92F1-C2D2B5232C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192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6059D-CC7C-03FD-3173-96D47B2CF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43373A-138C-EDC0-46AE-463A4F12C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D91E92-2DCD-13A7-398D-B0C051F72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Speech</a:t>
            </a:r>
            <a:r>
              <a:rPr lang="ko-KR" altLang="en-US" dirty="0"/>
              <a:t>의 감정과 유사한 </a:t>
            </a:r>
            <a:r>
              <a:rPr lang="en-US" altLang="ko-KR" dirty="0"/>
              <a:t>music</a:t>
            </a:r>
            <a:r>
              <a:rPr lang="ko-KR" altLang="en-US" dirty="0"/>
              <a:t>을 추천하는 과제</a:t>
            </a:r>
            <a:endParaRPr lang="en-US" altLang="ko-KR" dirty="0"/>
          </a:p>
          <a:p>
            <a:r>
              <a:rPr lang="ko-KR" altLang="en-US" dirty="0"/>
              <a:t>논문의 방법론을 참고해서 프로젝트 진행</a:t>
            </a:r>
            <a:endParaRPr lang="en-US" altLang="ko-KR" dirty="0"/>
          </a:p>
          <a:p>
            <a:r>
              <a:rPr lang="ko-KR" altLang="en-US" dirty="0"/>
              <a:t>주요한 문제는 다른 두 도메인의 독립적인 감정 체계 통합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4500B3-F0DB-3E47-F305-3CAE871BF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163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7197A-B8BB-7E0B-F950-B24C4497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912BE2-7E16-DA04-F64D-8E0E30EC5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55BB05-FF2D-433E-FE6D-892146452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Speech</a:t>
            </a:r>
            <a:r>
              <a:rPr lang="ko-KR" altLang="en-US" dirty="0"/>
              <a:t>와 </a:t>
            </a:r>
            <a:r>
              <a:rPr lang="en-US" altLang="ko-KR" dirty="0"/>
              <a:t>music data</a:t>
            </a:r>
            <a:r>
              <a:rPr lang="ko-KR" altLang="en-US" dirty="0"/>
              <a:t>의 경우에는 각각의 </a:t>
            </a:r>
            <a:r>
              <a:rPr lang="en-US" altLang="ko-KR" dirty="0"/>
              <a:t>modality</a:t>
            </a:r>
            <a:r>
              <a:rPr lang="ko-KR" altLang="en-US" dirty="0"/>
              <a:t>의 </a:t>
            </a:r>
            <a:r>
              <a:rPr lang="ko-KR" altLang="en-US" dirty="0" err="1"/>
              <a:t>임베딩</a:t>
            </a:r>
            <a:r>
              <a:rPr lang="ko-KR" altLang="en-US" dirty="0"/>
              <a:t> 모델로 </a:t>
            </a:r>
            <a:r>
              <a:rPr lang="en-US" altLang="ko-KR" dirty="0"/>
              <a:t>feature</a:t>
            </a:r>
            <a:r>
              <a:rPr lang="ko-KR" altLang="en-US" dirty="0"/>
              <a:t>를 추출합니다</a:t>
            </a:r>
            <a:r>
              <a:rPr lang="en-US" altLang="ko-KR" dirty="0"/>
              <a:t>. </a:t>
            </a:r>
            <a:r>
              <a:rPr lang="ko-KR" altLang="en-US" dirty="0"/>
              <a:t>그 후 공통 </a:t>
            </a:r>
            <a:r>
              <a:rPr lang="ko-KR" altLang="en-US" dirty="0" err="1"/>
              <a:t>임베딩</a:t>
            </a:r>
            <a:r>
              <a:rPr lang="ko-KR" altLang="en-US" dirty="0"/>
              <a:t> 공간으로 </a:t>
            </a:r>
            <a:r>
              <a:rPr lang="en-US" altLang="ko-KR" dirty="0"/>
              <a:t>projection</a:t>
            </a:r>
            <a:r>
              <a:rPr lang="ko-KR" altLang="en-US" dirty="0"/>
              <a:t>하게 됩니다</a:t>
            </a:r>
            <a:r>
              <a:rPr lang="en-US" altLang="ko-KR" dirty="0"/>
              <a:t>. </a:t>
            </a:r>
            <a:r>
              <a:rPr lang="ko-KR" altLang="en-US" dirty="0"/>
              <a:t>이 과정에서 </a:t>
            </a:r>
            <a:r>
              <a:rPr lang="ko-KR" altLang="en-US" dirty="0" err="1"/>
              <a:t>학습할때</a:t>
            </a:r>
            <a:r>
              <a:rPr lang="ko-KR" altLang="en-US" dirty="0"/>
              <a:t> </a:t>
            </a:r>
            <a:r>
              <a:rPr lang="en-US" altLang="ko-KR" dirty="0"/>
              <a:t>triplets loss</a:t>
            </a:r>
            <a:r>
              <a:rPr lang="ko-KR" altLang="en-US" dirty="0"/>
              <a:t>를 사용합니다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08EC62-B92B-552B-C7A4-D45D4D443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542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2B23-4ED7-772F-4390-4EFB5B3A1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A32393-5FE8-E101-E628-90BA335B1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32E3B5-2BCE-7065-AAA1-57E25BD71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기본적인 </a:t>
            </a:r>
            <a:r>
              <a:rPr lang="en-US" altLang="ko-KR" dirty="0"/>
              <a:t>triplet loss</a:t>
            </a:r>
            <a:r>
              <a:rPr lang="ko-KR" altLang="en-US" dirty="0"/>
              <a:t>인 </a:t>
            </a:r>
            <a:r>
              <a:rPr lang="en-US" altLang="ko-KR" dirty="0" err="1"/>
              <a:t>L_Cross</a:t>
            </a:r>
            <a:r>
              <a:rPr lang="ko-KR" altLang="en-US" dirty="0"/>
              <a:t>를 통해</a:t>
            </a:r>
            <a:r>
              <a:rPr lang="en-US" altLang="ko-KR" dirty="0"/>
              <a:t>,</a:t>
            </a:r>
            <a:r>
              <a:rPr lang="ko-KR" altLang="en-US" dirty="0"/>
              <a:t> 만약 신나는 </a:t>
            </a:r>
            <a:r>
              <a:rPr lang="en-US" altLang="ko-KR" dirty="0"/>
              <a:t>speech</a:t>
            </a:r>
            <a:r>
              <a:rPr lang="ko-KR" altLang="en-US" dirty="0"/>
              <a:t>라는 기준점 앵커가 들어왔을 때 행복한 음악은 가까이 우울한 음악은 멀리 있도록 </a:t>
            </a:r>
            <a:r>
              <a:rPr lang="ko-KR" altLang="en-US" dirty="0" err="1"/>
              <a:t>임베딩</a:t>
            </a:r>
            <a:r>
              <a:rPr lang="ko-KR" altLang="en-US" dirty="0"/>
              <a:t> 시키게 됩니다</a:t>
            </a:r>
            <a:r>
              <a:rPr lang="en-US" altLang="ko-KR" dirty="0"/>
              <a:t>. </a:t>
            </a:r>
            <a:r>
              <a:rPr lang="ko-KR" altLang="en-US" dirty="0"/>
              <a:t>하지만 두 </a:t>
            </a:r>
            <a:r>
              <a:rPr lang="en-US" altLang="ko-KR" dirty="0"/>
              <a:t>modality</a:t>
            </a:r>
            <a:r>
              <a:rPr lang="ko-KR" altLang="en-US" dirty="0"/>
              <a:t>간의 관계에 </a:t>
            </a:r>
            <a:r>
              <a:rPr lang="ko-KR" altLang="en-US" dirty="0" err="1"/>
              <a:t>치중하다보면</a:t>
            </a:r>
            <a:r>
              <a:rPr lang="ko-KR" altLang="en-US" dirty="0"/>
              <a:t> </a:t>
            </a:r>
            <a:r>
              <a:rPr lang="ko-KR" altLang="en-US" dirty="0" err="1"/>
              <a:t>모달리티</a:t>
            </a:r>
            <a:r>
              <a:rPr lang="ko-KR" altLang="en-US" dirty="0"/>
              <a:t> 내부 데이터 간의 관계를 반영하지 못할 가능성이 존재합니다</a:t>
            </a:r>
            <a:r>
              <a:rPr lang="en-US" altLang="ko-KR" dirty="0"/>
              <a:t>. </a:t>
            </a:r>
            <a:r>
              <a:rPr lang="ko-KR" altLang="en-US" dirty="0"/>
              <a:t>그렇기 때문에 </a:t>
            </a:r>
            <a:r>
              <a:rPr lang="en-US" altLang="ko-KR" dirty="0"/>
              <a:t>triplets loss</a:t>
            </a:r>
            <a:r>
              <a:rPr lang="ko-KR" altLang="en-US" dirty="0"/>
              <a:t>를 내부적으로 각 </a:t>
            </a:r>
            <a:r>
              <a:rPr lang="ko-KR" altLang="en-US" dirty="0" err="1"/>
              <a:t>모달리티</a:t>
            </a:r>
            <a:r>
              <a:rPr lang="ko-KR" altLang="en-US" dirty="0"/>
              <a:t> 별로 적용시킬 필요가 존재합니다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647B23-183B-A752-FAE2-C00B7CB66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661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FA3BA-361E-8186-44DA-E253E9EE7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174C99-F91D-8277-2369-80289C30B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D8BB5C-BD24-8F63-AF7E-00CA68BBC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논문에서 사용한 방법이 </a:t>
            </a:r>
            <a:r>
              <a:rPr lang="en-US" altLang="ko-KR" dirty="0"/>
              <a:t>SP </a:t>
            </a:r>
            <a:r>
              <a:rPr lang="ko-KR" altLang="en-US" dirty="0"/>
              <a:t>손실입니다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CEBDED-59C9-0F96-A441-72A3F57EB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96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B313A-93FB-3313-5BFB-7C2318C6A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03C32F-3500-5820-BEA9-F6CFFC674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10B56A-7691-B808-8462-5A6DE6A86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하지만 </a:t>
            </a:r>
            <a:r>
              <a:rPr lang="en-US" altLang="ko-KR" dirty="0"/>
              <a:t>SP </a:t>
            </a:r>
            <a:r>
              <a:rPr lang="ko-KR" altLang="en-US" dirty="0"/>
              <a:t>손실은 적용했을 때 성능이 상대적으로 저조하게 나타나는 현상이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저희는 이것을 문제로 정의하고 여기서의 질문을 기반하여 가설을 설정하게 되었습니다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D7ED59-B0CE-C299-1285-28B5AEAB2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652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509F6-F16D-D200-EFE6-A5E0503BA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A33703-E04B-1DD2-26B0-5C3F9185F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0B309F-BB45-5B3C-20F5-1C4B5B0ED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질문에 대해서 세 가지 가설을 설정 후 실험을 진행하였습니다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SP </a:t>
            </a:r>
            <a:r>
              <a:rPr lang="ko-KR" altLang="en-US" dirty="0"/>
              <a:t>손실의 임의적인 가중치 </a:t>
            </a:r>
            <a:r>
              <a:rPr lang="ko-KR" altLang="en-US" dirty="0" err="1"/>
              <a:t>설정값을</a:t>
            </a:r>
            <a:r>
              <a:rPr lang="ko-KR" altLang="en-US" dirty="0"/>
              <a:t> 조정하면 성능이 개선될 것이다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dirty="0"/>
              <a:t>감정 태그의 </a:t>
            </a:r>
            <a:r>
              <a:rPr lang="en-US" altLang="ko-KR" dirty="0"/>
              <a:t>VA </a:t>
            </a:r>
            <a:r>
              <a:rPr lang="ko-KR" altLang="en-US" dirty="0"/>
              <a:t>매핑을 개선하면 성능이 개선될 것이다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en-US" altLang="ko-KR" dirty="0"/>
              <a:t>Projection </a:t>
            </a:r>
            <a:r>
              <a:rPr lang="ko-KR" altLang="en-US" dirty="0"/>
              <a:t>단계의 단순한 </a:t>
            </a:r>
            <a:r>
              <a:rPr lang="en-US" altLang="ko-KR" dirty="0"/>
              <a:t>MLP</a:t>
            </a:r>
            <a:r>
              <a:rPr lang="ko-KR" altLang="en-US" dirty="0"/>
              <a:t> 모델 구조를 개선하면 성능이 개선될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8B7C45-A9D2-C0AC-03C0-B85E0950E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370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DF303-1856-D880-6F5E-14ED8A60A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530866-F8C9-31AB-D973-D7C858F69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B217AE-2C30-55FF-FF49-63BA8EC75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38047-3B28-87CE-E370-680D8DDD7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300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67387-DEF7-F68F-E2D8-CBF8D0E5E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B453C1-CD3B-2A9D-646D-A0BB33A36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D2CC05-83CC-7CFC-7704-D23676191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연구에서는 </a:t>
            </a:r>
            <a:r>
              <a:rPr lang="en-US" altLang="ko-KR" dirty="0"/>
              <a:t>speech</a:t>
            </a:r>
            <a:r>
              <a:rPr lang="ko-KR" altLang="en-US" dirty="0"/>
              <a:t>와 </a:t>
            </a:r>
            <a:r>
              <a:rPr lang="en-US" altLang="ko-KR" dirty="0"/>
              <a:t>music</a:t>
            </a:r>
            <a:r>
              <a:rPr lang="ko-KR" altLang="en-US" dirty="0"/>
              <a:t>의 감정 라벨을 </a:t>
            </a:r>
            <a:r>
              <a:rPr lang="en-US" altLang="ko-KR" dirty="0"/>
              <a:t>Valence, Arousal </a:t>
            </a:r>
            <a:r>
              <a:rPr lang="ko-KR" altLang="en-US" dirty="0"/>
              <a:t>값으로만 매핑하여 거리를 계산하였다</a:t>
            </a:r>
            <a:r>
              <a:rPr lang="en-US" altLang="ko-KR" dirty="0"/>
              <a:t>. </a:t>
            </a:r>
            <a:r>
              <a:rPr lang="ko-KR" altLang="en-US" dirty="0"/>
              <a:t>그러나</a:t>
            </a:r>
            <a:r>
              <a:rPr lang="en-US" altLang="ko-KR" dirty="0"/>
              <a:t>,</a:t>
            </a:r>
            <a:r>
              <a:rPr lang="ko-KR" altLang="en-US" dirty="0"/>
              <a:t> 이것이 복잡한 감정을 분류할 수 있는지에 대한 의문이 있었다</a:t>
            </a:r>
            <a:r>
              <a:rPr lang="en-US" altLang="ko-KR" dirty="0"/>
              <a:t>. VA </a:t>
            </a:r>
            <a:r>
              <a:rPr lang="ko-KR" altLang="en-US" dirty="0"/>
              <a:t>매핑은 감정을 긍정적</a:t>
            </a:r>
            <a:r>
              <a:rPr lang="en-US" altLang="ko-KR" dirty="0"/>
              <a:t>/</a:t>
            </a:r>
            <a:r>
              <a:rPr lang="ko-KR" altLang="en-US" dirty="0"/>
              <a:t>부정적 극성인 </a:t>
            </a:r>
            <a:r>
              <a:rPr lang="en-US" altLang="ko-KR" dirty="0"/>
              <a:t>Valence</a:t>
            </a:r>
            <a:r>
              <a:rPr lang="ko-KR" altLang="en-US" dirty="0"/>
              <a:t>와 감정이 얼마나 </a:t>
            </a:r>
            <a:r>
              <a:rPr lang="ko-KR" altLang="en-US" dirty="0" err="1"/>
              <a:t>활성되었는지</a:t>
            </a:r>
            <a:r>
              <a:rPr lang="ko-KR" altLang="en-US" dirty="0"/>
              <a:t> 보여주는 </a:t>
            </a:r>
            <a:r>
              <a:rPr lang="en-US" altLang="ko-KR" dirty="0"/>
              <a:t>Arousal</a:t>
            </a:r>
            <a:r>
              <a:rPr lang="ko-KR" altLang="en-US" dirty="0"/>
              <a:t> </a:t>
            </a:r>
            <a:r>
              <a:rPr lang="ko-KR" altLang="en-US" dirty="0" err="1"/>
              <a:t>두축으로</a:t>
            </a:r>
            <a:r>
              <a:rPr lang="ko-KR" altLang="en-US" dirty="0"/>
              <a:t> 감정을 </a:t>
            </a:r>
            <a:r>
              <a:rPr lang="en-US" altLang="ko-KR" dirty="0"/>
              <a:t>2</a:t>
            </a:r>
            <a:r>
              <a:rPr lang="ko-KR" altLang="en-US" dirty="0"/>
              <a:t>차원 벡터로 매핑합니다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33E937-D95B-2122-FAE4-9865E09E9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228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1FD0B-D7D1-AF8E-5A49-9A58B36D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C30228-CBD7-ADF4-A503-DB2943579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2185E2-5975-E47A-728A-A9815B786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</a:t>
            </a:r>
            <a:r>
              <a:rPr lang="en-US" altLang="ko-KR" dirty="0"/>
              <a:t>VA </a:t>
            </a:r>
            <a:r>
              <a:rPr lang="ko-KR" altLang="en-US" dirty="0"/>
              <a:t>매핑에 감정의 통제</a:t>
            </a:r>
            <a:r>
              <a:rPr lang="en-US" altLang="ko-KR" dirty="0"/>
              <a:t>, </a:t>
            </a:r>
            <a:r>
              <a:rPr lang="ko-KR" altLang="en-US" dirty="0"/>
              <a:t>지배력 수준에 대한 축인 </a:t>
            </a:r>
            <a:r>
              <a:rPr lang="en-US" altLang="ko-KR" dirty="0"/>
              <a:t>Dominance </a:t>
            </a:r>
            <a:r>
              <a:rPr lang="ko-KR" altLang="en-US" dirty="0"/>
              <a:t>축을 추가한 방법이 </a:t>
            </a:r>
            <a:r>
              <a:rPr lang="en-US" altLang="ko-KR" dirty="0"/>
              <a:t>VAD </a:t>
            </a:r>
            <a:r>
              <a:rPr lang="ko-KR" altLang="en-US" dirty="0"/>
              <a:t>매핑입니다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0A8B89-04F6-690A-4B04-4F70EBAF6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287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7197A-B8BB-7E0B-F950-B24C4497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912BE2-7E16-DA04-F64D-8E0E30EC5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55BB05-FF2D-433E-FE6D-892146452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VAD</a:t>
            </a:r>
            <a:r>
              <a:rPr lang="ko-KR" altLang="en-US" dirty="0"/>
              <a:t>는 </a:t>
            </a:r>
            <a:r>
              <a:rPr lang="en-US" altLang="ko-KR" dirty="0"/>
              <a:t>VA </a:t>
            </a:r>
            <a:r>
              <a:rPr lang="ko-KR" altLang="en-US" dirty="0"/>
              <a:t>매핑에 </a:t>
            </a:r>
            <a:r>
              <a:rPr lang="en-US" altLang="ko-KR" dirty="0" err="1"/>
              <a:t>Domincance</a:t>
            </a:r>
            <a:r>
              <a:rPr lang="en-US" altLang="ko-KR" dirty="0"/>
              <a:t> </a:t>
            </a:r>
            <a:r>
              <a:rPr lang="ko-KR" altLang="en-US" dirty="0"/>
              <a:t>축까지 더해진 매핑 방법이기 때문에 복잡하고 미묘한 감정 표현을 보다 정확하게 비교하고 분류할 수 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분노와 공포의 경우</a:t>
            </a:r>
            <a:r>
              <a:rPr lang="en-US" altLang="ko-KR" dirty="0"/>
              <a:t> VA</a:t>
            </a:r>
            <a:r>
              <a:rPr lang="ko-KR" altLang="en-US" dirty="0"/>
              <a:t>의 방법으로는 감정 태그를 매핑할 경우</a:t>
            </a:r>
            <a:r>
              <a:rPr lang="en-US" altLang="ko-KR" dirty="0"/>
              <a:t>, </a:t>
            </a:r>
            <a:r>
              <a:rPr lang="ko-KR" altLang="en-US" dirty="0"/>
              <a:t>분노와 공포가 비슷한 감정으로 분류될 수 있지만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VAD</a:t>
            </a:r>
            <a:r>
              <a:rPr lang="ko-KR" altLang="en-US" dirty="0"/>
              <a:t>를 통해 </a:t>
            </a:r>
            <a:r>
              <a:rPr lang="en-US" altLang="ko-KR" dirty="0"/>
              <a:t>VA </a:t>
            </a:r>
            <a:r>
              <a:rPr lang="ko-KR" altLang="en-US" dirty="0"/>
              <a:t>매핑의 </a:t>
            </a:r>
            <a:r>
              <a:rPr lang="en-US" altLang="ko-KR" dirty="0"/>
              <a:t>Valence, Arousal</a:t>
            </a:r>
            <a:r>
              <a:rPr lang="ko-KR" altLang="en-US" dirty="0"/>
              <a:t>에 더해 </a:t>
            </a:r>
            <a:r>
              <a:rPr lang="en-US" altLang="ko-KR" dirty="0"/>
              <a:t>Dominance </a:t>
            </a:r>
            <a:r>
              <a:rPr lang="ko-KR" altLang="en-US" dirty="0"/>
              <a:t>값까지 사용하여 이 둘을 확실히 비교해낼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08EC62-B92B-552B-C7A4-D45D4D443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542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1F88A-E077-0376-F696-2B86D681B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2BD54B-49DB-6E0A-117A-3FF03BC36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D00FA4-D38A-0B8B-39DB-039BD916F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추가적인 논의로</a:t>
            </a:r>
            <a:r>
              <a:rPr lang="en-US" altLang="ko-KR" dirty="0"/>
              <a:t>, </a:t>
            </a:r>
            <a:r>
              <a:rPr lang="ko-KR" altLang="en-US" dirty="0"/>
              <a:t>매우 단순한 형태의 </a:t>
            </a:r>
            <a:r>
              <a:rPr lang="en-US" altLang="ko-KR" dirty="0"/>
              <a:t>MLP </a:t>
            </a:r>
            <a:r>
              <a:rPr lang="ko-KR" altLang="en-US" dirty="0"/>
              <a:t>구조를 활성화함수 변경</a:t>
            </a:r>
            <a:r>
              <a:rPr lang="en-US" altLang="ko-KR" dirty="0"/>
              <a:t>, dropout </a:t>
            </a:r>
            <a:r>
              <a:rPr lang="ko-KR" altLang="en-US" dirty="0"/>
              <a:t>사용</a:t>
            </a:r>
            <a:r>
              <a:rPr lang="en-US" altLang="ko-KR" dirty="0"/>
              <a:t>, layer </a:t>
            </a:r>
            <a:r>
              <a:rPr lang="ko-KR" altLang="en-US" dirty="0"/>
              <a:t>추가 등의 방법으로 수정해보자는 의견이 있었습니다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7DE3E0-C107-EBF1-2383-5B567C823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7680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F892B-A7A4-4BFF-4F98-AEA82A9C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1A51B6-D4F3-93B9-D461-59A1441A8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6AB4D7-246E-52A9-FCCA-E46EF28EA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크게 세가지 실험을 진행하기로 하였고</a:t>
            </a:r>
            <a:r>
              <a:rPr lang="en-US" altLang="ko-KR" dirty="0"/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요인 설정에 따른 성능의 변화 양상 관찰하였습니다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A30F10-43F8-7789-03F6-8388FCAC4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693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8D13A-19A0-1467-BE2E-DC4F6607C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8EE17C-C826-323C-5AC4-CE228AA5F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89B8C1-3B99-E921-BFE0-4B3EEE732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실험 결과</a:t>
            </a:r>
            <a:r>
              <a:rPr lang="en-US" altLang="ko-KR" dirty="0"/>
              <a:t>, SP</a:t>
            </a:r>
            <a:r>
              <a:rPr lang="ko-KR" altLang="en-US" dirty="0"/>
              <a:t> 손실에 </a:t>
            </a:r>
            <a:r>
              <a:rPr lang="ko-KR" altLang="en-US" dirty="0" err="1"/>
              <a:t>모달리티별로</a:t>
            </a:r>
            <a:r>
              <a:rPr lang="ko-KR" altLang="en-US" dirty="0"/>
              <a:t> 가중치 조정했을 때</a:t>
            </a:r>
            <a:r>
              <a:rPr lang="en-US" altLang="ko-KR" dirty="0"/>
              <a:t>, </a:t>
            </a:r>
            <a:r>
              <a:rPr lang="ko-KR" altLang="en-US" dirty="0"/>
              <a:t>아쉽게도 기존 설정했을 때의 성능과 비교해서 성능에 유의미한 차이가 존재하지 않았습니다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878EEC-6090-8067-B721-8EA1FAD75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6884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09B39-0BBD-A010-CF0B-F466FCA9E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D88911-A815-B759-6737-CD100909B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AD34DF-1956-447E-567D-EC70436F4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VAD </a:t>
            </a:r>
            <a:r>
              <a:rPr lang="ko-KR" altLang="en-US" dirty="0"/>
              <a:t>매핑을 도입한 실험 결과</a:t>
            </a:r>
            <a:r>
              <a:rPr lang="en-US" altLang="ko-KR" dirty="0"/>
              <a:t>, </a:t>
            </a:r>
            <a:r>
              <a:rPr lang="ko-KR" altLang="en-US" dirty="0"/>
              <a:t>기존의 </a:t>
            </a:r>
            <a:r>
              <a:rPr lang="en-US" altLang="ko-KR" dirty="0"/>
              <a:t>VA </a:t>
            </a:r>
            <a:r>
              <a:rPr lang="ko-KR" altLang="en-US" dirty="0"/>
              <a:t>매핑을 사용했을 때보다 성능이 확실히 향상됨을 알 수 있었습니다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3A8105-3BDD-05AB-9D85-6ED0D4AC2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1794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74993-5DE5-D30D-722A-3593F2B0C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19EBB4-65B1-46CF-3DC9-14FEE4F3E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73EE02-F8A0-860E-01A5-17B616E61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MLP </a:t>
            </a:r>
            <a:r>
              <a:rPr lang="ko-KR" altLang="en-US" dirty="0"/>
              <a:t>모델을 수정한 실험의 경우</a:t>
            </a:r>
            <a:r>
              <a:rPr lang="en-US" altLang="ko-KR" dirty="0"/>
              <a:t>, layer</a:t>
            </a:r>
            <a:r>
              <a:rPr lang="ko-KR" altLang="en-US" dirty="0"/>
              <a:t>를 추가하거나 </a:t>
            </a:r>
            <a:r>
              <a:rPr lang="en-US" altLang="ko-KR" dirty="0" err="1"/>
              <a:t>ReLU</a:t>
            </a:r>
            <a:r>
              <a:rPr lang="ko-KR" altLang="en-US" dirty="0"/>
              <a:t>를 </a:t>
            </a:r>
            <a:r>
              <a:rPr lang="en-US" altLang="ko-KR" dirty="0" err="1"/>
              <a:t>LeakyReLU</a:t>
            </a:r>
            <a:r>
              <a:rPr lang="ko-KR" altLang="en-US" dirty="0"/>
              <a:t>만 적용한 경우 성능이 일부 향상했으나</a:t>
            </a:r>
            <a:r>
              <a:rPr lang="en-US" altLang="ko-KR" dirty="0"/>
              <a:t>, </a:t>
            </a:r>
            <a:r>
              <a:rPr lang="ko-KR" altLang="en-US" dirty="0"/>
              <a:t>이외에 </a:t>
            </a:r>
            <a:r>
              <a:rPr lang="en-US" altLang="ko-KR" dirty="0"/>
              <a:t>MLP </a:t>
            </a:r>
            <a:r>
              <a:rPr lang="ko-KR" altLang="en-US" dirty="0"/>
              <a:t>모델이 </a:t>
            </a:r>
            <a:r>
              <a:rPr lang="ko-KR" altLang="en-US" dirty="0" err="1"/>
              <a:t>복잡해져도</a:t>
            </a:r>
            <a:r>
              <a:rPr lang="ko-KR" altLang="en-US" dirty="0"/>
              <a:t> 성능은 하락하거나 변화가 없었습니다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868663-4607-5780-0795-3CF7AED42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379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23CA6-C2BC-F03D-1C07-2CF66F10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E304C6-48FD-BFEF-1931-86D690A60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EE747C-79E3-1579-EA09-074A07559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첫번째로 </a:t>
            </a:r>
            <a:r>
              <a:rPr lang="en-US" altLang="ko-KR" sz="1200" dirty="0">
                <a:latin typeface="+mn-ea"/>
                <a:ea typeface="+mn-ea"/>
              </a:rPr>
              <a:t>SP </a:t>
            </a:r>
            <a:r>
              <a:rPr lang="ko-KR" altLang="en-US" sz="1200" dirty="0">
                <a:latin typeface="+mn-ea"/>
                <a:ea typeface="+mn-ea"/>
              </a:rPr>
              <a:t>손실 사용 시 가중치의 설정을 통해서 학습 성능을 개선할 수 없었습니다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  <a:r>
              <a:rPr lang="en-US" altLang="ko-KR" dirty="0"/>
              <a:t> </a:t>
            </a:r>
            <a:r>
              <a:rPr lang="ko-KR" altLang="en-US" dirty="0" err="1"/>
              <a:t>임베딩</a:t>
            </a:r>
            <a:r>
              <a:rPr lang="ko-KR" altLang="en-US" dirty="0"/>
              <a:t> 모델 코드에서 </a:t>
            </a:r>
            <a:r>
              <a:rPr lang="en-US" altLang="ko-KR" dirty="0"/>
              <a:t>Encoding</a:t>
            </a:r>
            <a:r>
              <a:rPr lang="ko-KR" altLang="en-US" dirty="0"/>
              <a:t>을 거친 </a:t>
            </a:r>
            <a:r>
              <a:rPr lang="en-US" altLang="ko-KR" dirty="0"/>
              <a:t>Embedding dataset</a:t>
            </a:r>
            <a:r>
              <a:rPr lang="ko-KR" altLang="en-US" dirty="0"/>
              <a:t>만 주어진 점</a:t>
            </a:r>
            <a:r>
              <a:rPr lang="en-US" altLang="ko-KR" dirty="0"/>
              <a:t>, </a:t>
            </a:r>
            <a:r>
              <a:rPr lang="ko-KR" altLang="en-US" dirty="0"/>
              <a:t>또한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Encoder</a:t>
            </a:r>
            <a:r>
              <a:rPr lang="ko-KR" altLang="en-US" dirty="0"/>
              <a:t>의 </a:t>
            </a:r>
            <a:r>
              <a:rPr lang="en-US" altLang="ko-KR" dirty="0"/>
              <a:t>Lock(</a:t>
            </a:r>
            <a:r>
              <a:rPr lang="ko-KR" altLang="en-US" dirty="0"/>
              <a:t>학습 배제</a:t>
            </a:r>
            <a:r>
              <a:rPr lang="en-US" altLang="ko-KR" dirty="0"/>
              <a:t>)</a:t>
            </a:r>
            <a:r>
              <a:rPr lang="ko-KR" altLang="en-US" dirty="0"/>
              <a:t>로 논문에서도 </a:t>
            </a:r>
            <a:r>
              <a:rPr lang="en-US" altLang="ko-KR" dirty="0" err="1"/>
              <a:t>sp</a:t>
            </a:r>
            <a:r>
              <a:rPr lang="en-US" altLang="ko-KR" dirty="0"/>
              <a:t> loss</a:t>
            </a:r>
            <a:r>
              <a:rPr lang="ko-KR" altLang="en-US" dirty="0"/>
              <a:t>를 이용했을 때 성능이 감소한 것으로 보아</a:t>
            </a:r>
            <a:r>
              <a:rPr lang="en-US" altLang="ko-KR" dirty="0"/>
              <a:t>, </a:t>
            </a:r>
            <a:r>
              <a:rPr lang="ko-KR" altLang="en-US" dirty="0"/>
              <a:t>구조 보전이 실제로는 반영되지 않았을 것이라고 분석했습니다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두번째</a:t>
            </a:r>
            <a:r>
              <a:rPr lang="en-US" altLang="ko-KR" dirty="0"/>
              <a:t>, </a:t>
            </a:r>
            <a:r>
              <a:rPr lang="ko-KR" altLang="en-US" dirty="0"/>
              <a:t>세번째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4AD6F7-728F-431D-5144-3D54C78E7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8055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986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81100" cy="5143500"/>
          </a:xfrm>
          <a:custGeom>
            <a:avLst/>
            <a:gdLst/>
            <a:ahLst/>
            <a:cxnLst/>
            <a:rect l="l" t="t" r="r" b="b"/>
            <a:pathLst>
              <a:path w="1181100" h="5143500">
                <a:moveTo>
                  <a:pt x="0" y="5143498"/>
                </a:moveTo>
                <a:lnTo>
                  <a:pt x="1181100" y="5143498"/>
                </a:lnTo>
                <a:lnTo>
                  <a:pt x="1181100" y="0"/>
                </a:lnTo>
                <a:lnTo>
                  <a:pt x="0" y="0"/>
                </a:lnTo>
                <a:lnTo>
                  <a:pt x="0" y="5143498"/>
                </a:lnTo>
                <a:close/>
              </a:path>
            </a:pathLst>
          </a:custGeom>
          <a:solidFill>
            <a:srgbClr val="1825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  <p:extLst>
      <p:ext uri="{BB962C8B-B14F-4D97-AF65-F5344CB8AC3E}">
        <p14:creationId xmlns:p14="http://schemas.microsoft.com/office/powerpoint/2010/main" val="1807774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  <p:extLst>
      <p:ext uri="{BB962C8B-B14F-4D97-AF65-F5344CB8AC3E}">
        <p14:creationId xmlns:p14="http://schemas.microsoft.com/office/powerpoint/2010/main" val="666736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81100" cy="5143500"/>
          </a:xfrm>
          <a:custGeom>
            <a:avLst/>
            <a:gdLst/>
            <a:ahLst/>
            <a:cxnLst/>
            <a:rect l="l" t="t" r="r" b="b"/>
            <a:pathLst>
              <a:path w="1181100" h="5143500">
                <a:moveTo>
                  <a:pt x="0" y="5143498"/>
                </a:moveTo>
                <a:lnTo>
                  <a:pt x="1181100" y="5143498"/>
                </a:lnTo>
                <a:lnTo>
                  <a:pt x="1181100" y="0"/>
                </a:lnTo>
                <a:lnTo>
                  <a:pt x="0" y="0"/>
                </a:lnTo>
                <a:lnTo>
                  <a:pt x="0" y="5143498"/>
                </a:lnTo>
                <a:close/>
              </a:path>
            </a:pathLst>
          </a:custGeom>
          <a:solidFill>
            <a:srgbClr val="1825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3822" y="0"/>
            <a:ext cx="38100" cy="2149475"/>
          </a:xfrm>
          <a:custGeom>
            <a:avLst/>
            <a:gdLst/>
            <a:ahLst/>
            <a:cxnLst/>
            <a:rect l="l" t="t" r="r" b="b"/>
            <a:pathLst>
              <a:path w="38100" h="2149475">
                <a:moveTo>
                  <a:pt x="0" y="2149094"/>
                </a:moveTo>
                <a:lnTo>
                  <a:pt x="38100" y="2149094"/>
                </a:lnTo>
                <a:lnTo>
                  <a:pt x="38100" y="0"/>
                </a:lnTo>
                <a:lnTo>
                  <a:pt x="0" y="0"/>
                </a:lnTo>
                <a:lnTo>
                  <a:pt x="0" y="21490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2142998"/>
            <a:ext cx="1181087" cy="3000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6197" y="295401"/>
            <a:ext cx="5991605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2450084"/>
            <a:ext cx="1206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맑은 고딕"/>
                <a:cs typeface="맑은 고딕"/>
              </a:rPr>
              <a:t>T</a:t>
            </a:r>
            <a:endParaRPr sz="140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8589" y="2712077"/>
            <a:ext cx="4067811" cy="754053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500" b="1" dirty="0">
                <a:solidFill>
                  <a:srgbClr val="18254A"/>
                </a:solidFill>
                <a:latin typeface="맑은 고딕"/>
                <a:cs typeface="맑은 고딕"/>
              </a:rPr>
              <a:t>CUAI</a:t>
            </a:r>
            <a:r>
              <a:rPr sz="2500" b="1" spc="-45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lang="en-US" sz="2500" b="1" spc="-45" dirty="0">
                <a:solidFill>
                  <a:srgbClr val="18254A"/>
                </a:solidFill>
                <a:latin typeface="맑은 고딕"/>
                <a:cs typeface="맑은 고딕"/>
              </a:rPr>
              <a:t>MM</a:t>
            </a:r>
            <a:r>
              <a:rPr sz="2500" b="1" spc="-70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lang="ko-KR" altLang="en-US" sz="2500" b="1" spc="-70" dirty="0">
                <a:solidFill>
                  <a:srgbClr val="18254A"/>
                </a:solidFill>
                <a:latin typeface="맑은 고딕"/>
                <a:cs typeface="맑은 고딕"/>
              </a:rPr>
              <a:t>프로젝트</a:t>
            </a:r>
            <a:r>
              <a:rPr sz="2500" b="1" spc="-45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lang="en-US" sz="2500" b="1" spc="-25" dirty="0">
                <a:solidFill>
                  <a:srgbClr val="18254A"/>
                </a:solidFill>
                <a:latin typeface="맑은 고딕"/>
                <a:cs typeface="맑은 고딕"/>
              </a:rPr>
              <a:t>1</a:t>
            </a:r>
            <a:r>
              <a:rPr sz="2500" b="1" spc="-25" dirty="0">
                <a:solidFill>
                  <a:srgbClr val="18254A"/>
                </a:solidFill>
                <a:latin typeface="맑은 고딕"/>
                <a:cs typeface="맑은 고딕"/>
              </a:rPr>
              <a:t>팀</a:t>
            </a:r>
            <a:endParaRPr sz="25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400" spc="-10" dirty="0">
                <a:solidFill>
                  <a:srgbClr val="18254A"/>
                </a:solidFill>
                <a:latin typeface="맑은 고딕"/>
                <a:cs typeface="맑은 고딕"/>
              </a:rPr>
              <a:t>2024.</a:t>
            </a:r>
            <a:r>
              <a:rPr lang="en-US" sz="1400" spc="-10" dirty="0">
                <a:solidFill>
                  <a:srgbClr val="18254A"/>
                </a:solidFill>
                <a:latin typeface="맑은 고딕"/>
                <a:cs typeface="맑은 고딕"/>
              </a:rPr>
              <a:t>11.26</a:t>
            </a:r>
            <a:endParaRPr sz="1400" dirty="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8588" y="3967988"/>
            <a:ext cx="1629411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 err="1">
                <a:solidFill>
                  <a:srgbClr val="18254A"/>
                </a:solidFill>
                <a:latin typeface="맑은 고딕"/>
                <a:cs typeface="맑은 고딕"/>
              </a:rPr>
              <a:t>발표자</a:t>
            </a:r>
            <a:r>
              <a:rPr sz="1100" spc="-15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sz="1100" spc="-50" dirty="0">
                <a:solidFill>
                  <a:srgbClr val="18254A"/>
                </a:solidFill>
                <a:latin typeface="맑은 고딕"/>
                <a:cs typeface="맑은 고딕"/>
              </a:rPr>
              <a:t>:</a:t>
            </a:r>
            <a:r>
              <a:rPr lang="en-US" sz="1100" spc="-50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lang="ko-KR" altLang="en-US" sz="1100" spc="-50" dirty="0" err="1">
                <a:solidFill>
                  <a:srgbClr val="18254A"/>
                </a:solidFill>
                <a:latin typeface="맑은 고딕"/>
                <a:cs typeface="맑은 고딕"/>
              </a:rPr>
              <a:t>최형용</a:t>
            </a:r>
            <a:endParaRPr sz="1100" dirty="0">
              <a:latin typeface="맑은 고딕"/>
              <a:cs typeface="맑은 고딕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1181100" cy="5143500"/>
            <a:chOff x="0" y="0"/>
            <a:chExt cx="1181100" cy="5143500"/>
          </a:xfrm>
        </p:grpSpPr>
        <p:sp>
          <p:nvSpPr>
            <p:cNvPr id="6" name="object 6"/>
            <p:cNvSpPr/>
            <p:nvPr/>
          </p:nvSpPr>
          <p:spPr>
            <a:xfrm>
              <a:off x="153822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0" y="2149094"/>
                  </a:moveTo>
                  <a:lnTo>
                    <a:pt x="38100" y="2149094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21490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42998"/>
              <a:ext cx="1181087" cy="3000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1100" cy="5143500"/>
            <a:chOff x="0" y="0"/>
            <a:chExt cx="1181100" cy="5143500"/>
          </a:xfrm>
        </p:grpSpPr>
        <p:sp>
          <p:nvSpPr>
            <p:cNvPr id="3" name="object 3"/>
            <p:cNvSpPr/>
            <p:nvPr/>
          </p:nvSpPr>
          <p:spPr>
            <a:xfrm>
              <a:off x="153822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0" y="2149094"/>
                  </a:moveTo>
                  <a:lnTo>
                    <a:pt x="38100" y="2149094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21490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42998"/>
              <a:ext cx="1181087" cy="30005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487805" y="394538"/>
            <a:ext cx="5346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18254A"/>
                </a:solidFill>
                <a:latin typeface="맑은 고딕"/>
                <a:cs typeface="맑은 고딕"/>
              </a:rPr>
              <a:t>목차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F3943-6848-777B-8ED1-AD28B673962C}"/>
              </a:ext>
            </a:extLst>
          </p:cNvPr>
          <p:cNvSpPr txBox="1"/>
          <p:nvPr/>
        </p:nvSpPr>
        <p:spPr>
          <a:xfrm>
            <a:off x="1487804" y="1366048"/>
            <a:ext cx="60559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1. </a:t>
            </a:r>
            <a:r>
              <a:rPr lang="ko-KR" altLang="en-US" b="1" dirty="0">
                <a:latin typeface="+mj-ea"/>
                <a:ea typeface="+mj-ea"/>
              </a:rPr>
              <a:t>프로젝트 개요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en-US" altLang="ko-KR" b="1" dirty="0">
                <a:latin typeface="+mj-ea"/>
                <a:ea typeface="+mj-ea"/>
              </a:rPr>
              <a:t>2. </a:t>
            </a:r>
            <a:r>
              <a:rPr lang="ko-KR" altLang="en-US" b="1" dirty="0">
                <a:latin typeface="+mj-ea"/>
                <a:ea typeface="+mj-ea"/>
              </a:rPr>
              <a:t>실험 결과 </a:t>
            </a:r>
            <a:r>
              <a:rPr lang="en-US" altLang="ko-KR" b="1" dirty="0">
                <a:latin typeface="+mj-ea"/>
                <a:ea typeface="+mj-ea"/>
              </a:rPr>
              <a:t>(1) </a:t>
            </a:r>
            <a:r>
              <a:rPr lang="ko-KR" altLang="en-US" b="1" dirty="0">
                <a:latin typeface="+mj-ea"/>
                <a:ea typeface="+mj-ea"/>
              </a:rPr>
              <a:t>가중치 설정</a:t>
            </a:r>
            <a:r>
              <a:rPr lang="en-US" altLang="ko-KR" b="1" dirty="0">
                <a:latin typeface="+mj-ea"/>
                <a:ea typeface="+mj-ea"/>
              </a:rPr>
              <a:t> (2) VAD (3) MLP</a:t>
            </a:r>
            <a:r>
              <a:rPr lang="ko-KR" altLang="en-US" b="1" dirty="0">
                <a:latin typeface="+mj-ea"/>
                <a:ea typeface="+mj-ea"/>
              </a:rPr>
              <a:t> 수정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en-US" altLang="ko-KR" b="1" dirty="0">
                <a:latin typeface="+mj-ea"/>
                <a:ea typeface="+mj-ea"/>
              </a:rPr>
              <a:t>3. </a:t>
            </a:r>
            <a:r>
              <a:rPr lang="ko-KR" altLang="en-US" b="1" dirty="0">
                <a:latin typeface="+mj-ea"/>
                <a:ea typeface="+mj-ea"/>
              </a:rPr>
              <a:t>결과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0261" y="1242999"/>
            <a:ext cx="4326255" cy="3453129"/>
            <a:chOff x="1580261" y="1242999"/>
            <a:chExt cx="4326255" cy="3453129"/>
          </a:xfrm>
        </p:grpSpPr>
        <p:sp>
          <p:nvSpPr>
            <p:cNvPr id="3" name="object 3"/>
            <p:cNvSpPr/>
            <p:nvPr/>
          </p:nvSpPr>
          <p:spPr>
            <a:xfrm>
              <a:off x="1599311" y="1262049"/>
              <a:ext cx="4288155" cy="3415029"/>
            </a:xfrm>
            <a:custGeom>
              <a:avLst/>
              <a:gdLst/>
              <a:ahLst/>
              <a:cxnLst/>
              <a:rect l="l" t="t" r="r" b="b"/>
              <a:pathLst>
                <a:path w="4288155" h="3415029">
                  <a:moveTo>
                    <a:pt x="4287647" y="0"/>
                  </a:moveTo>
                  <a:lnTo>
                    <a:pt x="0" y="0"/>
                  </a:lnTo>
                  <a:lnTo>
                    <a:pt x="0" y="3414649"/>
                  </a:lnTo>
                  <a:lnTo>
                    <a:pt x="4287647" y="3414649"/>
                  </a:lnTo>
                  <a:lnTo>
                    <a:pt x="428764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99311" y="1262049"/>
              <a:ext cx="4288155" cy="3415029"/>
            </a:xfrm>
            <a:custGeom>
              <a:avLst/>
              <a:gdLst/>
              <a:ahLst/>
              <a:cxnLst/>
              <a:rect l="l" t="t" r="r" b="b"/>
              <a:pathLst>
                <a:path w="4288155" h="3415029">
                  <a:moveTo>
                    <a:pt x="0" y="3414649"/>
                  </a:moveTo>
                  <a:lnTo>
                    <a:pt x="4287647" y="3414649"/>
                  </a:lnTo>
                  <a:lnTo>
                    <a:pt x="4287647" y="0"/>
                  </a:lnTo>
                  <a:lnTo>
                    <a:pt x="0" y="0"/>
                  </a:lnTo>
                  <a:lnTo>
                    <a:pt x="0" y="3414649"/>
                  </a:lnTo>
                  <a:close/>
                </a:path>
              </a:pathLst>
            </a:custGeom>
            <a:ln w="38100">
              <a:solidFill>
                <a:srgbClr val="182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87805" y="394538"/>
            <a:ext cx="31762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18254A"/>
                </a:solidFill>
                <a:latin typeface="맑은 고딕"/>
                <a:cs typeface="맑은 고딕"/>
              </a:rPr>
              <a:t>스터디원</a:t>
            </a:r>
            <a:r>
              <a:rPr b="0" spc="-30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b="0" dirty="0">
                <a:solidFill>
                  <a:srgbClr val="18254A"/>
                </a:solidFill>
                <a:latin typeface="맑은 고딕"/>
                <a:cs typeface="맑은 고딕"/>
              </a:rPr>
              <a:t>소개</a:t>
            </a:r>
            <a:r>
              <a:rPr b="0" spc="-15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b="0" dirty="0">
                <a:solidFill>
                  <a:srgbClr val="18254A"/>
                </a:solidFill>
                <a:latin typeface="맑은 고딕"/>
                <a:cs typeface="맑은 고딕"/>
              </a:rPr>
              <a:t>및</a:t>
            </a:r>
            <a:r>
              <a:rPr b="0" spc="-15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b="0" dirty="0">
                <a:solidFill>
                  <a:srgbClr val="18254A"/>
                </a:solidFill>
                <a:latin typeface="맑은 고딕"/>
                <a:cs typeface="맑은 고딕"/>
              </a:rPr>
              <a:t>만남</a:t>
            </a:r>
            <a:r>
              <a:rPr b="0" spc="-25" dirty="0">
                <a:solidFill>
                  <a:srgbClr val="18254A"/>
                </a:solidFill>
                <a:latin typeface="맑은 고딕"/>
                <a:cs typeface="맑은 고딕"/>
              </a:rPr>
              <a:t> 인증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71438" y="1659127"/>
            <a:ext cx="2362962" cy="15472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맑은 고딕"/>
                <a:cs typeface="맑은 고딕"/>
              </a:rPr>
              <a:t>스터디원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1</a:t>
            </a:r>
            <a:r>
              <a:rPr sz="1400" spc="-5" dirty="0">
                <a:latin typeface="맑은 고딕"/>
                <a:cs typeface="맑은 고딕"/>
              </a:rPr>
              <a:t> </a:t>
            </a:r>
            <a:r>
              <a:rPr sz="1400" spc="-50" dirty="0">
                <a:latin typeface="맑은 고딕"/>
                <a:cs typeface="맑은 고딕"/>
              </a:rPr>
              <a:t>:</a:t>
            </a:r>
            <a:r>
              <a:rPr lang="en-US" sz="1400" spc="-50" dirty="0">
                <a:latin typeface="맑은 고딕"/>
                <a:cs typeface="맑은 고딕"/>
              </a:rPr>
              <a:t> </a:t>
            </a:r>
            <a:r>
              <a:rPr lang="ko-KR" altLang="en-US" sz="1400" spc="-50" dirty="0">
                <a:latin typeface="맑은 고딕"/>
                <a:cs typeface="맑은 고딕"/>
              </a:rPr>
              <a:t>문주일</a:t>
            </a:r>
            <a:endParaRPr lang="en-US" altLang="ko-KR" sz="1400" spc="-5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5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 err="1">
                <a:latin typeface="맑은 고딕"/>
                <a:cs typeface="맑은 고딕"/>
              </a:rPr>
              <a:t>스터디원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2</a:t>
            </a:r>
            <a:r>
              <a:rPr sz="1400" spc="-5" dirty="0">
                <a:latin typeface="맑은 고딕"/>
                <a:cs typeface="맑은 고딕"/>
              </a:rPr>
              <a:t> </a:t>
            </a:r>
            <a:r>
              <a:rPr sz="1400" spc="-50" dirty="0">
                <a:latin typeface="맑은 고딕"/>
                <a:cs typeface="맑은 고딕"/>
              </a:rPr>
              <a:t>:</a:t>
            </a:r>
            <a:r>
              <a:rPr lang="en-US" sz="1400" spc="-50" dirty="0">
                <a:latin typeface="맑은 고딕"/>
                <a:cs typeface="맑은 고딕"/>
              </a:rPr>
              <a:t> </a:t>
            </a:r>
            <a:r>
              <a:rPr lang="ko-KR" altLang="en-US" sz="1400" spc="-50" dirty="0">
                <a:latin typeface="맑은 고딕"/>
                <a:cs typeface="맑은 고딕"/>
              </a:rPr>
              <a:t>조효원</a:t>
            </a:r>
            <a:endParaRPr lang="en-US" sz="1400" spc="-5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endParaRPr lang="en-US" sz="1400" spc="-5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lang="ko-KR" altLang="en-US" sz="1400" spc="-50" dirty="0" err="1">
                <a:latin typeface="맑은 고딕"/>
                <a:cs typeface="맑은 고딕"/>
              </a:rPr>
              <a:t>스터디원</a:t>
            </a:r>
            <a:r>
              <a:rPr lang="ko-KR" altLang="en-US" sz="1400" spc="-50" dirty="0">
                <a:latin typeface="맑은 고딕"/>
                <a:cs typeface="맑은 고딕"/>
              </a:rPr>
              <a:t> </a:t>
            </a:r>
            <a:r>
              <a:rPr lang="en-US" altLang="ko-KR" sz="1400" spc="-50" dirty="0">
                <a:latin typeface="맑은 고딕"/>
                <a:cs typeface="맑은 고딕"/>
              </a:rPr>
              <a:t>3 : </a:t>
            </a:r>
            <a:r>
              <a:rPr lang="ko-KR" altLang="en-US" sz="1400" spc="-50" dirty="0" err="1">
                <a:latin typeface="맑은 고딕"/>
                <a:cs typeface="맑은 고딕"/>
              </a:rPr>
              <a:t>최규원</a:t>
            </a:r>
            <a:endParaRPr lang="en-US" altLang="ko-KR" sz="1400" spc="-5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endParaRPr lang="en-US" sz="14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lang="ko-KR" altLang="en-US" sz="1400" dirty="0" err="1">
                <a:latin typeface="맑은 고딕"/>
                <a:cs typeface="맑은 고딕"/>
              </a:rPr>
              <a:t>스터디원</a:t>
            </a:r>
            <a:r>
              <a:rPr lang="ko-KR" altLang="en-US" sz="1400" dirty="0">
                <a:latin typeface="맑은 고딕"/>
                <a:cs typeface="맑은 고딕"/>
              </a:rPr>
              <a:t> </a:t>
            </a:r>
            <a:r>
              <a:rPr lang="en-US" altLang="ko-KR" sz="1400" dirty="0">
                <a:latin typeface="맑은 고딕"/>
                <a:cs typeface="맑은 고딕"/>
              </a:rPr>
              <a:t>4 : </a:t>
            </a:r>
            <a:r>
              <a:rPr lang="ko-KR" altLang="en-US" sz="1400" dirty="0" err="1">
                <a:latin typeface="맑은 고딕"/>
                <a:cs typeface="맑은 고딕"/>
              </a:rPr>
              <a:t>최형용</a:t>
            </a:r>
            <a:endParaRPr sz="1400" dirty="0">
              <a:latin typeface="맑은 고딕"/>
              <a:cs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78799-D439-8F2F-5B42-90ACA2C99062}"/>
              </a:ext>
            </a:extLst>
          </p:cNvPr>
          <p:cNvSpPr txBox="1"/>
          <p:nvPr/>
        </p:nvSpPr>
        <p:spPr>
          <a:xfrm>
            <a:off x="1820803" y="135255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목요일 </a:t>
            </a:r>
            <a:r>
              <a:rPr lang="en-US" altLang="ko-KR" dirty="0"/>
              <a:t>6:30~8:30</a:t>
            </a:r>
          </a:p>
          <a:p>
            <a:r>
              <a:rPr lang="ko-KR" altLang="en-US" dirty="0" err="1"/>
              <a:t>비대면</a:t>
            </a:r>
            <a:r>
              <a:rPr lang="ko-KR" altLang="en-US" dirty="0"/>
              <a:t> 회의 진행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AB1D0-48F2-CC88-2407-4FC6B3F5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59ED3D-CEF1-F5FA-D58C-FFA8278AAC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2691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개요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AEFC1CB-9F96-126B-FA0B-2E67EFF0EEC2}"/>
              </a:ext>
            </a:extLst>
          </p:cNvPr>
          <p:cNvSpPr txBox="1"/>
          <p:nvPr/>
        </p:nvSpPr>
        <p:spPr>
          <a:xfrm>
            <a:off x="1576196" y="906221"/>
            <a:ext cx="4977003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73630" algn="l"/>
              </a:tabLst>
            </a:pPr>
            <a:r>
              <a:rPr lang="ko-KR" altLang="en-US" sz="1600" b="1" dirty="0">
                <a:latin typeface="맑은 고딕"/>
                <a:cs typeface="맑은 고딕"/>
              </a:rPr>
              <a:t>목표</a:t>
            </a:r>
            <a:r>
              <a:rPr lang="en-US" altLang="ko-KR" sz="1600" b="1" dirty="0">
                <a:latin typeface="맑은 고딕"/>
                <a:cs typeface="맑은 고딕"/>
              </a:rPr>
              <a:t>: SPEECH</a:t>
            </a:r>
            <a:r>
              <a:rPr lang="ko-KR" altLang="en-US" sz="1600" b="1" dirty="0">
                <a:latin typeface="맑은 고딕"/>
                <a:cs typeface="맑은 고딕"/>
              </a:rPr>
              <a:t>의 감정과 유사한 </a:t>
            </a:r>
            <a:r>
              <a:rPr lang="en-US" altLang="ko-KR" sz="1600" b="1" spc="-20" dirty="0">
                <a:latin typeface="맑은 고딕"/>
                <a:cs typeface="맑은 고딕"/>
              </a:rPr>
              <a:t>MUSIC</a:t>
            </a:r>
            <a:r>
              <a:rPr lang="ko-KR" altLang="en-US" sz="1600" b="1" spc="-20" dirty="0">
                <a:latin typeface="맑은 고딕"/>
                <a:cs typeface="맑은 고딕"/>
              </a:rPr>
              <a:t> 추천</a:t>
            </a:r>
            <a:endParaRPr sz="1600" dirty="0">
              <a:latin typeface="맑은 고딕"/>
              <a:cs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0273D1-5547-482C-41DB-00B29A7FD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581150"/>
            <a:ext cx="5564553" cy="182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65EA8-802F-B368-5ECF-E11806D9B643}"/>
              </a:ext>
            </a:extLst>
          </p:cNvPr>
          <p:cNvSpPr txBox="1"/>
          <p:nvPr/>
        </p:nvSpPr>
        <p:spPr>
          <a:xfrm>
            <a:off x="1576196" y="3698670"/>
            <a:ext cx="73392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SPEECH2MUSIC RETRIEVAL USING EMOTION SIMILARITY(2023)</a:t>
            </a:r>
            <a:r>
              <a:rPr lang="ko-KR" altLang="en-US" sz="16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논문의 방법론 참고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👉 주요한 문제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r>
              <a:rPr lang="en-US" altLang="ko-KR" sz="1600" dirty="0">
                <a:highlight>
                  <a:srgbClr val="C0C0C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speech / music </a:t>
            </a:r>
            <a:r>
              <a:rPr lang="ko-KR" altLang="en-US" sz="1600" b="1" dirty="0">
                <a:highlight>
                  <a:srgbClr val="C0C0C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다른 도메인</a:t>
            </a:r>
            <a:r>
              <a:rPr lang="ko-KR" altLang="en-US" sz="1600" dirty="0">
                <a:highlight>
                  <a:srgbClr val="C0C0C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600" b="1" dirty="0">
                <a:highlight>
                  <a:srgbClr val="C0C0C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각각 독립적인 두 데이터</a:t>
            </a:r>
            <a:r>
              <a:rPr lang="ko-KR" altLang="en-US" sz="1600" dirty="0">
                <a:highlight>
                  <a:srgbClr val="C0C0C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600" b="1" dirty="0">
                <a:highlight>
                  <a:srgbClr val="C0C0C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감정 체계 통합</a:t>
            </a:r>
            <a:endParaRPr lang="en-US" altLang="ko-KR" sz="1600" b="1" dirty="0">
              <a:highlight>
                <a:srgbClr val="C0C0C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1529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C4726-FB1C-7EBA-C980-31FB3839B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usic - Free music icons">
            <a:extLst>
              <a:ext uri="{FF2B5EF4-FFF2-40B4-BE49-F238E27FC236}">
                <a16:creationId xmlns:a16="http://schemas.microsoft.com/office/drawing/2014/main" id="{BFC2A78A-F408-AF63-A83E-E81391227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152" y="3328201"/>
            <a:ext cx="1252795" cy="125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wnload Speech Icon, Voice, Talking. Royalty-Free Vector Graphic - Pixabay">
            <a:extLst>
              <a:ext uri="{FF2B5EF4-FFF2-40B4-BE49-F238E27FC236}">
                <a16:creationId xmlns:a16="http://schemas.microsoft.com/office/drawing/2014/main" id="{122273A7-4346-E859-981D-D3C87F5E7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686" y="1116447"/>
            <a:ext cx="1184099" cy="118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90CF8C3D-3087-6A97-9D33-3E63E473EEC7}"/>
                  </a:ext>
                </a:extLst>
              </p:cNvPr>
              <p:cNvSpPr/>
              <p:nvPr/>
            </p:nvSpPr>
            <p:spPr>
              <a:xfrm>
                <a:off x="2776919" y="1409813"/>
                <a:ext cx="1319403" cy="533400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90CF8C3D-3087-6A97-9D33-3E63E473EE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919" y="1409813"/>
                <a:ext cx="1319403" cy="5334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97FA53D1-269B-076F-B7BF-F40370A43BE8}"/>
                  </a:ext>
                </a:extLst>
              </p:cNvPr>
              <p:cNvSpPr/>
              <p:nvPr/>
            </p:nvSpPr>
            <p:spPr>
              <a:xfrm>
                <a:off x="2778675" y="3707261"/>
                <a:ext cx="1319403" cy="533400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97FA53D1-269B-076F-B7BF-F40370A43B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675" y="3707261"/>
                <a:ext cx="1319403" cy="5334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D492204-EB8F-FEC6-159C-65F02A410208}"/>
              </a:ext>
            </a:extLst>
          </p:cNvPr>
          <p:cNvSpPr txBox="1"/>
          <p:nvPr/>
        </p:nvSpPr>
        <p:spPr>
          <a:xfrm>
            <a:off x="2808034" y="2636748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Embedding Model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CE56172-6DE9-8272-ABBF-11499B59E8B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14947" y="3432447"/>
            <a:ext cx="1482346" cy="11485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B69F0E2-5787-98A5-5A85-8D88340EBB6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14947" y="1150410"/>
            <a:ext cx="1539830" cy="1193089"/>
          </a:xfrm>
          <a:prstGeom prst="rect">
            <a:avLst/>
          </a:prstGeom>
        </p:spPr>
      </p:pic>
      <p:sp>
        <p:nvSpPr>
          <p:cNvPr id="12" name="object 2">
            <a:extLst>
              <a:ext uri="{FF2B5EF4-FFF2-40B4-BE49-F238E27FC236}">
                <a16:creationId xmlns:a16="http://schemas.microsoft.com/office/drawing/2014/main" id="{F38C2357-4B97-F485-8DC1-819CE94429D9}"/>
              </a:ext>
            </a:extLst>
          </p:cNvPr>
          <p:cNvSpPr txBox="1">
            <a:spLocks/>
          </p:cNvSpPr>
          <p:nvPr/>
        </p:nvSpPr>
        <p:spPr>
          <a:xfrm>
            <a:off x="1576197" y="295401"/>
            <a:ext cx="2691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맑은 고딕"/>
                <a:ea typeface="+mj-ea"/>
                <a:cs typeface="맑은 고딕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altLang="ko-KR"/>
              <a:t>1. </a:t>
            </a:r>
            <a:r>
              <a:rPr lang="ko-KR" altLang="en-US"/>
              <a:t>프로젝트 개요</a:t>
            </a:r>
            <a:endParaRPr lang="ko-KR" altLang="en-US" spc="-25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99393BF-D8D0-48E3-F214-D18211640CCA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</a:blip>
          <a:stretch>
            <a:fillRect/>
          </a:stretch>
        </p:blipFill>
        <p:spPr>
          <a:xfrm>
            <a:off x="7263752" y="2099492"/>
            <a:ext cx="1880248" cy="1456851"/>
          </a:xfrm>
          <a:prstGeom prst="rect">
            <a:avLst/>
          </a:prstGeom>
        </p:spPr>
      </p:pic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42B5116D-73F5-ECB2-C1EB-BC13AC31D2B2}"/>
              </a:ext>
            </a:extLst>
          </p:cNvPr>
          <p:cNvSpPr/>
          <p:nvPr/>
        </p:nvSpPr>
        <p:spPr>
          <a:xfrm rot="16200000">
            <a:off x="4457206" y="1318661"/>
            <a:ext cx="319129" cy="7157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A51BB653-B582-991D-AECB-E611F0EB9B02}"/>
              </a:ext>
            </a:extLst>
          </p:cNvPr>
          <p:cNvSpPr/>
          <p:nvPr/>
        </p:nvSpPr>
        <p:spPr>
          <a:xfrm rot="16200000">
            <a:off x="4447913" y="3597917"/>
            <a:ext cx="319129" cy="7157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6B278C-9C6E-7133-9281-F0B69FAC4192}"/>
              </a:ext>
            </a:extLst>
          </p:cNvPr>
          <p:cNvSpPr txBox="1"/>
          <p:nvPr/>
        </p:nvSpPr>
        <p:spPr>
          <a:xfrm>
            <a:off x="1418205" y="793878"/>
            <a:ext cx="1358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SPEECH data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E0DAD8-5F00-D990-294C-1738B97A7DD4}"/>
              </a:ext>
            </a:extLst>
          </p:cNvPr>
          <p:cNvSpPr txBox="1"/>
          <p:nvPr/>
        </p:nvSpPr>
        <p:spPr>
          <a:xfrm>
            <a:off x="1460686" y="4580996"/>
            <a:ext cx="12731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MUSIC data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517213-6CCC-8F8A-08DC-B31CD6C49CDA}"/>
              </a:ext>
            </a:extLst>
          </p:cNvPr>
          <p:cNvSpPr txBox="1"/>
          <p:nvPr/>
        </p:nvSpPr>
        <p:spPr>
          <a:xfrm>
            <a:off x="6603380" y="601384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Projection Model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화살표: 굽음 20">
            <a:extLst>
              <a:ext uri="{FF2B5EF4-FFF2-40B4-BE49-F238E27FC236}">
                <a16:creationId xmlns:a16="http://schemas.microsoft.com/office/drawing/2014/main" id="{F19CB6CE-9FA7-4456-C035-DF206807C604}"/>
              </a:ext>
            </a:extLst>
          </p:cNvPr>
          <p:cNvSpPr/>
          <p:nvPr/>
        </p:nvSpPr>
        <p:spPr>
          <a:xfrm rot="5400000">
            <a:off x="7121422" y="769823"/>
            <a:ext cx="646333" cy="2179623"/>
          </a:xfrm>
          <a:prstGeom prst="bentArrow">
            <a:avLst>
              <a:gd name="adj1" fmla="val 25000"/>
              <a:gd name="adj2" fmla="val 20156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화살표: 굽음 22">
            <a:extLst>
              <a:ext uri="{FF2B5EF4-FFF2-40B4-BE49-F238E27FC236}">
                <a16:creationId xmlns:a16="http://schemas.microsoft.com/office/drawing/2014/main" id="{856C0D3C-24C6-474F-A439-6F259F1A0F4B}"/>
              </a:ext>
            </a:extLst>
          </p:cNvPr>
          <p:cNvSpPr/>
          <p:nvPr/>
        </p:nvSpPr>
        <p:spPr>
          <a:xfrm rot="16200000" flipV="1">
            <a:off x="7063938" y="2706390"/>
            <a:ext cx="646333" cy="2179623"/>
          </a:xfrm>
          <a:prstGeom prst="bentArrow">
            <a:avLst>
              <a:gd name="adj1" fmla="val 25000"/>
              <a:gd name="adj2" fmla="val 20156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A28DB631-B64D-44DA-1664-3096430F0E78}"/>
                  </a:ext>
                </a:extLst>
              </p:cNvPr>
              <p:cNvSpPr/>
              <p:nvPr/>
            </p:nvSpPr>
            <p:spPr>
              <a:xfrm>
                <a:off x="6586355" y="1292599"/>
                <a:ext cx="1319403" cy="5334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A28DB631-B64D-44DA-1664-3096430F0E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355" y="1292599"/>
                <a:ext cx="1319403" cy="5334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439EDA70-4083-CC1B-F894-4BBFFB5A3233}"/>
                  </a:ext>
                </a:extLst>
              </p:cNvPr>
              <p:cNvSpPr/>
              <p:nvPr/>
            </p:nvSpPr>
            <p:spPr>
              <a:xfrm>
                <a:off x="6604050" y="3744813"/>
                <a:ext cx="1319403" cy="5334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439EDA70-4083-CC1B-F894-4BBFFB5A32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50" y="3744813"/>
                <a:ext cx="1319403" cy="5334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12E3F0B2-32E5-E69F-5AE7-742E233DF6D7}"/>
              </a:ext>
            </a:extLst>
          </p:cNvPr>
          <p:cNvSpPr txBox="1"/>
          <p:nvPr/>
        </p:nvSpPr>
        <p:spPr>
          <a:xfrm>
            <a:off x="6609611" y="4362712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Projection Model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17153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B6E98-96C8-F931-6F77-53B986C7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riplet loss - Wikipedia">
            <a:extLst>
              <a:ext uri="{FF2B5EF4-FFF2-40B4-BE49-F238E27FC236}">
                <a16:creationId xmlns:a16="http://schemas.microsoft.com/office/drawing/2014/main" id="{9D3865FE-CC4A-7647-12C3-3A01B24BF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376" y="1706645"/>
            <a:ext cx="4726345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wnload Speech Icon, Voice, Talking. Royalty-Free Vector Graphic - Pixabay">
            <a:extLst>
              <a:ext uri="{FF2B5EF4-FFF2-40B4-BE49-F238E27FC236}">
                <a16:creationId xmlns:a16="http://schemas.microsoft.com/office/drawing/2014/main" id="{122273A7-4346-E859-981D-D3C87F5E7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361" y="1891042"/>
            <a:ext cx="335982" cy="33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9FB4FF-7532-9820-91B5-9317F1C61AF4}"/>
              </a:ext>
            </a:extLst>
          </p:cNvPr>
          <p:cNvSpPr txBox="1"/>
          <p:nvPr/>
        </p:nvSpPr>
        <p:spPr>
          <a:xfrm>
            <a:off x="2348814" y="1628967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“excited” SPEECH</a:t>
            </a:r>
            <a:endParaRPr lang="ko-KR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70A77D-C55E-CD03-34F8-3CFC11E25027}"/>
              </a:ext>
            </a:extLst>
          </p:cNvPr>
          <p:cNvSpPr txBox="1"/>
          <p:nvPr/>
        </p:nvSpPr>
        <p:spPr>
          <a:xfrm>
            <a:off x="4007281" y="2262171"/>
            <a:ext cx="800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“sad”</a:t>
            </a:r>
            <a:r>
              <a:rPr lang="ko-KR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ko-KR" sz="1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MUSIC</a:t>
            </a:r>
            <a:endParaRPr lang="ko-KR" altLang="en-US" sz="1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A7C9EA0-211D-FEB0-F5B6-F419812DE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4060110"/>
            <a:ext cx="2886478" cy="3048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AA4D02-AEE1-49EF-D4FC-3F25617F3930}"/>
              </a:ext>
            </a:extLst>
          </p:cNvPr>
          <p:cNvSpPr txBox="1"/>
          <p:nvPr/>
        </p:nvSpPr>
        <p:spPr>
          <a:xfrm>
            <a:off x="2608376" y="4579010"/>
            <a:ext cx="5011624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각 </a:t>
            </a:r>
            <a:r>
              <a:rPr lang="en-US" altLang="ko-KR" sz="1600" b="1" dirty="0"/>
              <a:t>Modality </a:t>
            </a:r>
            <a:r>
              <a:rPr lang="ko-KR" altLang="en-US" sz="1600" b="1" dirty="0"/>
              <a:t>내부의 분포 또는 구조를 잃을 수 있다</a:t>
            </a:r>
            <a:r>
              <a:rPr lang="en-US" altLang="ko-KR" sz="1600" b="1" dirty="0"/>
              <a:t>.</a:t>
            </a:r>
            <a:endParaRPr lang="ko-KR" altLang="en-US" sz="1600" b="1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A99CE2F-766C-8607-FDB6-5528FC1F9A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2691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개요</a:t>
            </a:r>
            <a:endParaRPr spc="-25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F2C644-A1BA-4780-2700-FF29899F84BD}"/>
              </a:ext>
            </a:extLst>
          </p:cNvPr>
          <p:cNvSpPr txBox="1"/>
          <p:nvPr/>
        </p:nvSpPr>
        <p:spPr>
          <a:xfrm>
            <a:off x="1922576" y="3307035"/>
            <a:ext cx="800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“happy”</a:t>
            </a:r>
            <a:r>
              <a:rPr lang="ko-KR" altLang="en-US" sz="1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ko-KR" sz="1400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1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MUSIC</a:t>
            </a:r>
            <a:endParaRPr lang="ko-KR" altLang="en-US" sz="1400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A882EC-F30E-E22C-9293-AFD330D5CA7D}"/>
              </a:ext>
            </a:extLst>
          </p:cNvPr>
          <p:cNvSpPr txBox="1"/>
          <p:nvPr/>
        </p:nvSpPr>
        <p:spPr>
          <a:xfrm>
            <a:off x="7219786" y="3160585"/>
            <a:ext cx="800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“sad”</a:t>
            </a:r>
            <a:r>
              <a:rPr lang="ko-KR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ko-KR" sz="1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MUSIC</a:t>
            </a:r>
            <a:endParaRPr lang="ko-KR" altLang="en-US" sz="1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AEAA66-C687-D455-00EE-2B18A3731C41}"/>
              </a:ext>
            </a:extLst>
          </p:cNvPr>
          <p:cNvSpPr txBox="1"/>
          <p:nvPr/>
        </p:nvSpPr>
        <p:spPr>
          <a:xfrm>
            <a:off x="5143173" y="2190750"/>
            <a:ext cx="800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“happy”</a:t>
            </a:r>
            <a:r>
              <a:rPr lang="ko-KR" altLang="en-US" sz="1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ko-KR" sz="1400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1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MUSIC</a:t>
            </a:r>
            <a:endParaRPr lang="ko-KR" altLang="en-US" sz="1400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DA0C15-63FC-B0F8-7D82-C04F8E6DEFBF}"/>
              </a:ext>
            </a:extLst>
          </p:cNvPr>
          <p:cNvSpPr txBox="1"/>
          <p:nvPr/>
        </p:nvSpPr>
        <p:spPr>
          <a:xfrm>
            <a:off x="6652979" y="1575351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“excited” SPEECH</a:t>
            </a:r>
            <a:endParaRPr lang="ko-KR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4" descr="Download Speech Icon, Voice, Talking. Royalty-Free Vector Graphic - Pixabay">
            <a:extLst>
              <a:ext uri="{FF2B5EF4-FFF2-40B4-BE49-F238E27FC236}">
                <a16:creationId xmlns:a16="http://schemas.microsoft.com/office/drawing/2014/main" id="{61A1BC41-9092-97E3-6165-CEAAFB1C5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887" y="1891042"/>
            <a:ext cx="335982" cy="33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4E700F-1BCE-0E9E-6E5B-1D4AE5C559E4}"/>
              </a:ext>
            </a:extLst>
          </p:cNvPr>
          <p:cNvSpPr txBox="1"/>
          <p:nvPr/>
        </p:nvSpPr>
        <p:spPr>
          <a:xfrm>
            <a:off x="1543096" y="834034"/>
            <a:ext cx="6744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  <a:ea typeface="+mn-ea"/>
              </a:rPr>
              <a:t>Triplet loss – metric learning</a:t>
            </a:r>
          </a:p>
        </p:txBody>
      </p:sp>
    </p:spTree>
    <p:extLst>
      <p:ext uri="{BB962C8B-B14F-4D97-AF65-F5344CB8AC3E}">
        <p14:creationId xmlns:p14="http://schemas.microsoft.com/office/powerpoint/2010/main" val="1795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86F58-B9E3-9434-11E3-274053E0D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172149-17D3-533C-E15C-3B4B7CB62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2691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개요</a:t>
            </a:r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57CAD0BA-D76F-58AC-5946-B1A5C8E06D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436766"/>
                  </p:ext>
                </p:extLst>
              </p:nvPr>
            </p:nvGraphicFramePr>
            <p:xfrm>
              <a:off x="4119070" y="2130168"/>
              <a:ext cx="3967348" cy="12889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1837">
                      <a:extLst>
                        <a:ext uri="{9D8B030D-6E8A-4147-A177-3AD203B41FA5}">
                          <a16:colId xmlns:a16="http://schemas.microsoft.com/office/drawing/2014/main" val="1489174576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3410625555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4090368780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3370129437"/>
                        </a:ext>
                      </a:extLst>
                    </a:gridCol>
                  </a:tblGrid>
                  <a:tr h="288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anchor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positive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negative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margin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3191735"/>
                      </a:ext>
                    </a:extLst>
                  </a:tr>
                  <a:tr h="28828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5500346"/>
                      </a:ext>
                    </a:extLst>
                  </a:tr>
                  <a:tr h="28828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7781581"/>
                      </a:ext>
                    </a:extLst>
                  </a:tr>
                  <a:tr h="35422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/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/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97061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57CAD0BA-D76F-58AC-5946-B1A5C8E06D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436766"/>
                  </p:ext>
                </p:extLst>
              </p:nvPr>
            </p:nvGraphicFramePr>
            <p:xfrm>
              <a:off x="4119070" y="2130168"/>
              <a:ext cx="3967348" cy="12889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1837">
                      <a:extLst>
                        <a:ext uri="{9D8B030D-6E8A-4147-A177-3AD203B41FA5}">
                          <a16:colId xmlns:a16="http://schemas.microsoft.com/office/drawing/2014/main" val="1489174576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3410625555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4090368780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3370129437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anchor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positive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negative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margin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319173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13" t="-102000" r="-302454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613" t="-102000" r="-202454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613" t="-102000" r="-102454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0613" t="-102000" r="-2454" b="-22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50034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13" t="-202000" r="-302454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613" t="-202000" r="-202454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613" t="-202000" r="-102454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0613" t="-202000" r="-2454" b="-12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781581"/>
                      </a:ext>
                    </a:extLst>
                  </a:tr>
                  <a:tr h="37452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13" t="-243548" r="-302454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613" t="-243548" r="-202454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613" t="-243548" r="-102454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0613" t="-243548" r="-2454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970617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E36E02B3-C0AB-B2DD-5177-4363B513B485}"/>
              </a:ext>
            </a:extLst>
          </p:cNvPr>
          <p:cNvGrpSpPr/>
          <p:nvPr/>
        </p:nvGrpSpPr>
        <p:grpSpPr>
          <a:xfrm>
            <a:off x="1541237" y="2435809"/>
            <a:ext cx="2381310" cy="311392"/>
            <a:chOff x="414266" y="2695145"/>
            <a:chExt cx="2381310" cy="31139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E0FC932-C2FF-E5C2-8DE8-AEFEA2C35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6413"/>
            <a:stretch/>
          </p:blipFill>
          <p:spPr>
            <a:xfrm>
              <a:off x="414266" y="2695145"/>
              <a:ext cx="2381310" cy="3113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25AD45-5A0C-3D49-4D5A-6F0A86DE07BC}"/>
                </a:ext>
              </a:extLst>
            </p:cNvPr>
            <p:cNvSpPr/>
            <p:nvPr/>
          </p:nvSpPr>
          <p:spPr>
            <a:xfrm>
              <a:off x="505751" y="2726950"/>
              <a:ext cx="2180805" cy="218551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C0CAB4F-A9C7-E938-804A-C6B9BB51C281}"/>
              </a:ext>
            </a:extLst>
          </p:cNvPr>
          <p:cNvGrpSpPr/>
          <p:nvPr/>
        </p:nvGrpSpPr>
        <p:grpSpPr>
          <a:xfrm>
            <a:off x="3895566" y="1755648"/>
            <a:ext cx="3967350" cy="266096"/>
            <a:chOff x="904056" y="1439455"/>
            <a:chExt cx="3967350" cy="266096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8446B5B-51B8-B231-7679-5C84CF025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4455"/>
            <a:stretch/>
          </p:blipFill>
          <p:spPr>
            <a:xfrm>
              <a:off x="904056" y="1457769"/>
              <a:ext cx="3967349" cy="247782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100B6CC-2BCE-C232-111D-11D15D216630}"/>
                </a:ext>
              </a:extLst>
            </p:cNvPr>
            <p:cNvSpPr/>
            <p:nvPr/>
          </p:nvSpPr>
          <p:spPr>
            <a:xfrm>
              <a:off x="2160573" y="1457769"/>
              <a:ext cx="485523" cy="247782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AAE591F-8586-614D-E0C8-DCD5D16D6F0E}"/>
                </a:ext>
              </a:extLst>
            </p:cNvPr>
            <p:cNvSpPr/>
            <p:nvPr/>
          </p:nvSpPr>
          <p:spPr>
            <a:xfrm>
              <a:off x="3030466" y="1456915"/>
              <a:ext cx="748515" cy="247782"/>
            </a:xfrm>
            <a:prstGeom prst="rect">
              <a:avLst/>
            </a:prstGeom>
            <a:solidFill>
              <a:srgbClr val="0070C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63F3663-894C-5C89-58FD-1CA8732559CD}"/>
                </a:ext>
              </a:extLst>
            </p:cNvPr>
            <p:cNvSpPr/>
            <p:nvPr/>
          </p:nvSpPr>
          <p:spPr>
            <a:xfrm>
              <a:off x="4163352" y="1439455"/>
              <a:ext cx="708054" cy="265242"/>
            </a:xfrm>
            <a:prstGeom prst="rect">
              <a:avLst/>
            </a:prstGeom>
            <a:solidFill>
              <a:srgbClr val="00B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A889D27-7980-4DA6-4E93-2AD0335D7C96}"/>
              </a:ext>
            </a:extLst>
          </p:cNvPr>
          <p:cNvGrpSpPr/>
          <p:nvPr/>
        </p:nvGrpSpPr>
        <p:grpSpPr>
          <a:xfrm>
            <a:off x="1875484" y="2840000"/>
            <a:ext cx="2042334" cy="543313"/>
            <a:chOff x="748513" y="3099336"/>
            <a:chExt cx="2042334" cy="543313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B14FA111-74ED-E038-516D-BD96181F3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8513" y="3099336"/>
              <a:ext cx="2042334" cy="54331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FDFA353-E99E-E221-2386-A5C18012B4BD}"/>
                </a:ext>
              </a:extLst>
            </p:cNvPr>
            <p:cNvSpPr/>
            <p:nvPr/>
          </p:nvSpPr>
          <p:spPr>
            <a:xfrm>
              <a:off x="813921" y="3123210"/>
              <a:ext cx="1913095" cy="243077"/>
            </a:xfrm>
            <a:prstGeom prst="rect">
              <a:avLst/>
            </a:prstGeom>
            <a:solidFill>
              <a:srgbClr val="0070C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8972A98-1D27-74E1-1733-C36D96873C87}"/>
                </a:ext>
              </a:extLst>
            </p:cNvPr>
            <p:cNvSpPr/>
            <p:nvPr/>
          </p:nvSpPr>
          <p:spPr>
            <a:xfrm>
              <a:off x="813920" y="3365490"/>
              <a:ext cx="1913095" cy="243077"/>
            </a:xfrm>
            <a:prstGeom prst="rect">
              <a:avLst/>
            </a:prstGeom>
            <a:solidFill>
              <a:srgbClr val="00B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A2DDEEB-7354-0A13-F26A-331BAAC21B4E}"/>
              </a:ext>
            </a:extLst>
          </p:cNvPr>
          <p:cNvSpPr txBox="1"/>
          <p:nvPr/>
        </p:nvSpPr>
        <p:spPr>
          <a:xfrm>
            <a:off x="1544602" y="3867150"/>
            <a:ext cx="67427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 err="1">
                <a:solidFill>
                  <a:schemeClr val="tx1"/>
                </a:solidFill>
                <a:latin typeface="+mn-ea"/>
                <a:ea typeface="+mn-ea"/>
              </a:rPr>
              <a:t>L_Cross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ea typeface="+mn-ea"/>
              </a:rPr>
              <a:t> :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ea typeface="+mn-ea"/>
              </a:rPr>
              <a:t>도메인 간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ea typeface="+mn-ea"/>
              </a:rPr>
              <a:t>유사도 학습</a:t>
            </a:r>
            <a:endParaRPr lang="en-US" altLang="ko-KR" sz="1400" b="1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ko-KR" sz="1400" b="1" dirty="0">
                <a:solidFill>
                  <a:schemeClr val="tx1"/>
                </a:solidFill>
                <a:latin typeface="+mn-ea"/>
                <a:ea typeface="+mn-ea"/>
              </a:rPr>
              <a:t>L_SP-Speech, L_SP-Music :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ea typeface="+mn-ea"/>
              </a:rPr>
              <a:t>도메인내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ea typeface="+mn-ea"/>
              </a:rPr>
              <a:t>감정과의 유사도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ea typeface="+mn-ea"/>
              </a:rPr>
              <a:t>감정체계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ea typeface="+mn-ea"/>
              </a:rPr>
              <a:t> 학습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F96C4F2-8A04-E718-6357-F87F5E296FB8}"/>
              </a:ext>
            </a:extLst>
          </p:cNvPr>
          <p:cNvSpPr/>
          <p:nvPr/>
        </p:nvSpPr>
        <p:spPr>
          <a:xfrm>
            <a:off x="1613167" y="3935153"/>
            <a:ext cx="644208" cy="211001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B061446-1DC3-0B6C-4811-FA12D96166FD}"/>
              </a:ext>
            </a:extLst>
          </p:cNvPr>
          <p:cNvSpPr/>
          <p:nvPr/>
        </p:nvSpPr>
        <p:spPr>
          <a:xfrm>
            <a:off x="1613166" y="4144469"/>
            <a:ext cx="1130034" cy="211001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529731-0D68-08E1-A77A-E1FC734D6C10}"/>
              </a:ext>
            </a:extLst>
          </p:cNvPr>
          <p:cNvSpPr/>
          <p:nvPr/>
        </p:nvSpPr>
        <p:spPr>
          <a:xfrm>
            <a:off x="2743200" y="4144469"/>
            <a:ext cx="990600" cy="211001"/>
          </a:xfrm>
          <a:prstGeom prst="rect">
            <a:avLst/>
          </a:prstGeom>
          <a:solidFill>
            <a:srgbClr val="00B05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D18149-2B30-CF6A-D347-C6B2EE4CC16B}"/>
              </a:ext>
            </a:extLst>
          </p:cNvPr>
          <p:cNvSpPr txBox="1"/>
          <p:nvPr/>
        </p:nvSpPr>
        <p:spPr>
          <a:xfrm>
            <a:off x="1543096" y="834034"/>
            <a:ext cx="6744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  <a:ea typeface="+mn-ea"/>
              </a:rPr>
              <a:t>“</a:t>
            </a:r>
            <a:r>
              <a:rPr lang="ko-KR" altLang="en-US" b="1" dirty="0">
                <a:latin typeface="+mn-ea"/>
                <a:ea typeface="+mn-ea"/>
              </a:rPr>
              <a:t>구조 보존하는</a:t>
            </a:r>
            <a:r>
              <a:rPr lang="en-US" altLang="ko-KR" b="1" dirty="0">
                <a:latin typeface="+mn-ea"/>
                <a:ea typeface="+mn-ea"/>
              </a:rPr>
              <a:t>” SP(Structure Preserving) Triplet loss</a:t>
            </a:r>
          </a:p>
        </p:txBody>
      </p:sp>
    </p:spTree>
    <p:extLst>
      <p:ext uri="{BB962C8B-B14F-4D97-AF65-F5344CB8AC3E}">
        <p14:creationId xmlns:p14="http://schemas.microsoft.com/office/powerpoint/2010/main" val="2935633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A7C6-B169-0116-E2CC-E6C888BC9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A79ACC-2E80-7706-78D3-BAB1ADDEE6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2691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개요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E03C56D-0A36-F71D-1F04-818CC5555840}"/>
              </a:ext>
            </a:extLst>
          </p:cNvPr>
          <p:cNvSpPr txBox="1"/>
          <p:nvPr/>
        </p:nvSpPr>
        <p:spPr>
          <a:xfrm>
            <a:off x="1576196" y="906221"/>
            <a:ext cx="6958204" cy="5174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73630" algn="l"/>
              </a:tabLst>
            </a:pPr>
            <a:r>
              <a:rPr lang="ko-KR" altLang="en-US" sz="1600" b="1" dirty="0">
                <a:latin typeface="맑은 고딕"/>
                <a:cs typeface="맑은 고딕"/>
              </a:rPr>
              <a:t>목표</a:t>
            </a:r>
            <a:r>
              <a:rPr lang="en-US" altLang="ko-KR" sz="1600" b="1" dirty="0">
                <a:latin typeface="맑은 고딕"/>
                <a:cs typeface="맑은 고딕"/>
              </a:rPr>
              <a:t>: SPEECH</a:t>
            </a:r>
            <a:r>
              <a:rPr lang="ko-KR" altLang="en-US" sz="1600" b="1" dirty="0">
                <a:latin typeface="맑은 고딕"/>
                <a:cs typeface="맑은 고딕"/>
              </a:rPr>
              <a:t>의 감정과 유사한 </a:t>
            </a:r>
            <a:r>
              <a:rPr sz="1600" b="1" spc="-20" dirty="0">
                <a:latin typeface="맑은 고딕"/>
                <a:cs typeface="맑은 고딕"/>
              </a:rPr>
              <a:t>MUSIC</a:t>
            </a:r>
            <a:r>
              <a:rPr lang="en-US" sz="1600" b="1" spc="-20" dirty="0">
                <a:latin typeface="맑은 고딕"/>
                <a:cs typeface="맑은 고딕"/>
              </a:rPr>
              <a:t> </a:t>
            </a:r>
            <a:r>
              <a:rPr lang="ko-KR" altLang="en-US" sz="1600" b="1" spc="-20" dirty="0">
                <a:latin typeface="맑은 고딕"/>
                <a:cs typeface="맑은 고딕"/>
              </a:rPr>
              <a:t>추천</a:t>
            </a:r>
            <a:endParaRPr lang="en-US" sz="1600" b="1" spc="-1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73630" algn="l"/>
              </a:tabLst>
            </a:pPr>
            <a:endParaRPr lang="en-US" sz="1600" b="1" spc="-10" dirty="0">
              <a:latin typeface="맑은 고딕"/>
              <a:cs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A48FB4-F542-C261-7D72-FB5A88B10032}"/>
              </a:ext>
            </a:extLst>
          </p:cNvPr>
          <p:cNvSpPr txBox="1"/>
          <p:nvPr/>
        </p:nvSpPr>
        <p:spPr>
          <a:xfrm>
            <a:off x="1694582" y="1335191"/>
            <a:ext cx="7110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spc="-10" dirty="0">
                <a:latin typeface="맑은 고딕"/>
                <a:cs typeface="맑은 고딕"/>
              </a:rPr>
              <a:t>문제 정의</a:t>
            </a:r>
            <a:r>
              <a:rPr lang="en-US" altLang="ko-KR" sz="1600" b="1" spc="-10" dirty="0">
                <a:latin typeface="맑은 고딕"/>
                <a:cs typeface="맑은 고딕"/>
              </a:rPr>
              <a:t>:</a:t>
            </a:r>
            <a:endParaRPr lang="ko-KR" altLang="en-US" sz="1600" dirty="0">
              <a:latin typeface="맑은 고딕"/>
              <a:cs typeface="맑은 고딕"/>
            </a:endParaRP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1️⃣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현상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구조 보존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손실 적용 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성능이 상대적으로 저조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하게 나타나는 현상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C7D45-50AE-12E1-DB16-7AF238338E22}"/>
              </a:ext>
            </a:extLst>
          </p:cNvPr>
          <p:cNvSpPr txBox="1"/>
          <p:nvPr/>
        </p:nvSpPr>
        <p:spPr>
          <a:xfrm>
            <a:off x="2921698" y="4219142"/>
            <a:ext cx="5387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2️⃣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손실 적용 시 성능을 어떻게 개선할 수 있을까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7B5E6B1D-3578-2966-5F9C-F54AB30D9190}"/>
              </a:ext>
            </a:extLst>
          </p:cNvPr>
          <p:cNvSpPr/>
          <p:nvPr/>
        </p:nvSpPr>
        <p:spPr>
          <a:xfrm>
            <a:off x="5013112" y="4018352"/>
            <a:ext cx="236772" cy="3629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8809CB6-0928-5FDE-37BD-A9750A5CD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821" y="2110401"/>
            <a:ext cx="3968954" cy="185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885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33FF4-9362-25CF-C858-28093491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ED8CF6-D075-3D5D-FB66-1B198282B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2691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개요</a:t>
            </a:r>
            <a:endParaRPr spc="-25" dirty="0"/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A4EDD237-66DE-02BA-6151-196131B1A65F}"/>
              </a:ext>
            </a:extLst>
          </p:cNvPr>
          <p:cNvSpPr/>
          <p:nvPr/>
        </p:nvSpPr>
        <p:spPr>
          <a:xfrm>
            <a:off x="4804877" y="1518689"/>
            <a:ext cx="236772" cy="3629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7F97BFA-2B50-98B6-04C3-DCEB821A4D4D}"/>
              </a:ext>
            </a:extLst>
          </p:cNvPr>
          <p:cNvGrpSpPr/>
          <p:nvPr/>
        </p:nvGrpSpPr>
        <p:grpSpPr>
          <a:xfrm>
            <a:off x="1752600" y="2114550"/>
            <a:ext cx="7110604" cy="2554545"/>
            <a:chOff x="1752600" y="1803168"/>
            <a:chExt cx="7110604" cy="2554545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1A12E3E0-0C66-B5DD-85E8-101BBA06B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9200" y="2329898"/>
              <a:ext cx="3657600" cy="31805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AE71B74-4929-6C4E-8D95-B87064715430}"/>
                    </a:ext>
                  </a:extLst>
                </p:cNvPr>
                <p:cNvSpPr txBox="1"/>
                <p:nvPr/>
              </p:nvSpPr>
              <p:spPr>
                <a:xfrm>
                  <a:off x="1752600" y="1803168"/>
                  <a:ext cx="7110604" cy="25545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3️⃣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가설</a:t>
                  </a:r>
                  <a:endParaRPr lang="en-US" altLang="ko-KR" sz="16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  <a:p>
                  <a:endPara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Metric learning </a:t>
                  </a:r>
                  <a:r>
                    <a:rPr lang="ko-KR" altLang="en-US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단계 </a:t>
                  </a:r>
                  <a:r>
                    <a:rPr lang="en-US" altLang="ko-KR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– </a:t>
                  </a:r>
                  <a:r>
                    <a:rPr lang="en-US" altLang="ko-KR" sz="1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SP</a:t>
                  </a:r>
                  <a:r>
                    <a:rPr lang="ko-KR" altLang="en-US" sz="1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 손실</a:t>
                  </a:r>
                  <a:br>
                    <a:rPr lang="en-US" altLang="ko-KR" sz="1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</a:br>
                  <a:r>
                    <a:rPr lang="ko-KR" altLang="en-US" sz="1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의 임의적인 가중치 </a:t>
                  </a:r>
                  <a:r>
                    <a:rPr lang="ko-KR" altLang="en-US" sz="1600" b="1" dirty="0" err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설정값</a:t>
                  </a:r>
                  <a:r>
                    <a:rPr lang="en-US" altLang="ko-KR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,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2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,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3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)</m:t>
                      </m:r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(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0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.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4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,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0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.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3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,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0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.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3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)</m:t>
                      </m:r>
                    </m:oMath>
                  </a14:m>
                  <a:r>
                    <a:rPr lang="en-US" altLang="ko-KR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)</a:t>
                  </a:r>
                  <a:r>
                    <a:rPr lang="ko-KR" altLang="en-US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의 영향</a:t>
                  </a:r>
                  <a:endPara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  <a:p>
                  <a:endPara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  <a:p>
                  <a:endPara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Encoding </a:t>
                  </a:r>
                  <a:r>
                    <a:rPr lang="ko-KR" altLang="en-US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단계 </a:t>
                  </a:r>
                  <a:r>
                    <a:rPr lang="en-US" altLang="ko-KR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–</a:t>
                  </a:r>
                  <a:r>
                    <a:rPr lang="ko-KR" altLang="en-US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감정 태그의 </a:t>
                  </a:r>
                  <a:r>
                    <a:rPr lang="en-US" altLang="ko-KR" sz="1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VA-mapping</a:t>
                  </a:r>
                  <a:r>
                    <a:rPr lang="ko-KR" altLang="en-US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의 영향</a:t>
                  </a:r>
                  <a:endPara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  <a:p>
                  <a:endPara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  <a:p>
                  <a:endPara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Projection </a:t>
                  </a:r>
                  <a:r>
                    <a:rPr lang="ko-KR" altLang="en-US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단계 </a:t>
                  </a:r>
                  <a:r>
                    <a:rPr lang="en-US" altLang="ko-KR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–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단순한 </a:t>
                  </a:r>
                  <a:r>
                    <a:rPr lang="en-US" altLang="ko-KR" sz="1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MLP </a:t>
                  </a:r>
                  <a:r>
                    <a:rPr lang="ko-KR" altLang="en-US" sz="1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모델 구조</a:t>
                  </a:r>
                  <a:r>
                    <a:rPr lang="ko-KR" altLang="en-US" sz="16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의 영향</a:t>
                  </a:r>
                  <a:endPara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AE71B74-4929-6C4E-8D95-B87064715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600" y="1803168"/>
                  <a:ext cx="7110604" cy="2554545"/>
                </a:xfrm>
                <a:prstGeom prst="rect">
                  <a:avLst/>
                </a:prstGeom>
                <a:blipFill>
                  <a:blip r:embed="rId4"/>
                  <a:stretch>
                    <a:fillRect l="-515" t="-716" b="-21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3F1EF02-696B-D781-56E2-365A56705F0A}"/>
              </a:ext>
            </a:extLst>
          </p:cNvPr>
          <p:cNvSpPr txBox="1"/>
          <p:nvPr/>
        </p:nvSpPr>
        <p:spPr>
          <a:xfrm>
            <a:off x="1752600" y="719010"/>
            <a:ext cx="48990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2️⃣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손실 적용 시 성능을 어떻게 개선할 수 있을까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66916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FE9DB-07B9-9DA7-B3E6-96A4CEC90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7890496-C066-6D46-6AEA-1E4437C313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2691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개요</a:t>
            </a:r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CE5B5-14F6-0AF0-2642-EAD9BCD2F7D8}"/>
              </a:ext>
            </a:extLst>
          </p:cNvPr>
          <p:cNvSpPr txBox="1"/>
          <p:nvPr/>
        </p:nvSpPr>
        <p:spPr>
          <a:xfrm>
            <a:off x="1752600" y="935023"/>
            <a:ext cx="670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4️⃣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실험 계획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D8E5254-5EED-26B8-25FD-AFE77236C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023842"/>
              </p:ext>
            </p:extLst>
          </p:nvPr>
        </p:nvGraphicFramePr>
        <p:xfrm>
          <a:off x="1676400" y="1796152"/>
          <a:ext cx="7086600" cy="741680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689456789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09699723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63174776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5110862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138045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684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가중치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(0.1, 0.45, 0.45)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(0.5, 0.25, 0.25)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(0.7, 0.15, 0.15)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(0.9, 0.05, 0.05)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7283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02487B-3D68-E760-F1F7-50532D5E1B75}"/>
                  </a:ext>
                </a:extLst>
              </p:cNvPr>
              <p:cNvSpPr txBox="1"/>
              <p:nvPr/>
            </p:nvSpPr>
            <p:spPr>
              <a:xfrm>
                <a:off x="3124200" y="3028950"/>
                <a:ext cx="52578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기존 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(0.4, 0.3, 0.3)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의 가중치 설정과 비슷한 방식으로</a:t>
                </a:r>
                <a:endPara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여러 개의 가중치 설정하여 실험</a:t>
                </a:r>
                <a:endPara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가중치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(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𝑤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, 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𝑤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,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𝑤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3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)</m:t>
                    </m:r>
                  </m:oMath>
                </a14:m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𝑤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기준 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0.1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부터 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0.9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까지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+0.2 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혹은 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+0.3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으로 그리드 생성</a:t>
                </a:r>
                <a:endPara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각 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modality 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구조의 가중치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𝑤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𝑤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3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 </m:t>
                    </m:r>
                  </m:oMath>
                </a14:m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는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동일함을 가정하여 설정 </a:t>
                </a:r>
                <a:endPara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02487B-3D68-E760-F1F7-50532D5E1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3028950"/>
                <a:ext cx="5257800" cy="1569660"/>
              </a:xfrm>
              <a:prstGeom prst="rect">
                <a:avLst/>
              </a:prstGeom>
              <a:blipFill>
                <a:blip r:embed="rId3"/>
                <a:stretch>
                  <a:fillRect l="-696" t="-1167" r="-696" b="-42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482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F61C2-B9B6-12CD-7F3D-F304CD170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117ABF-43D8-10A5-A3EA-4B5C26D8B5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2691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개요</a:t>
            </a:r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DCE8A-8C1F-97E2-0A79-3FA33509ACCD}"/>
              </a:ext>
            </a:extLst>
          </p:cNvPr>
          <p:cNvSpPr txBox="1"/>
          <p:nvPr/>
        </p:nvSpPr>
        <p:spPr>
          <a:xfrm>
            <a:off x="1752600" y="935023"/>
            <a:ext cx="670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4️⃣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실험 계획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E09E1CF-1A6E-CE79-842B-C3B8A58DE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740293"/>
              </p:ext>
            </p:extLst>
          </p:nvPr>
        </p:nvGraphicFramePr>
        <p:xfrm>
          <a:off x="1676400" y="1376378"/>
          <a:ext cx="7086600" cy="1102360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689456789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09699723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63174776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5110862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138045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684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감정 태그 매핑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VA mapping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(Valence-Arousal)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VAD mapping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(Valence-Arousal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-Dominance)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79513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F7304FF-4D3A-114E-311A-3DAE2BCC0463}"/>
              </a:ext>
            </a:extLst>
          </p:cNvPr>
          <p:cNvSpPr txBox="1"/>
          <p:nvPr/>
        </p:nvSpPr>
        <p:spPr>
          <a:xfrm>
            <a:off x="4263483" y="3235687"/>
            <a:ext cx="47844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VA mapping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b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감정을</a:t>
            </a:r>
            <a:b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Valence(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정서의 극성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), Arousal(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정서의 각성도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척도의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차원 벡터로 매핑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E61D902-FD41-6F3E-1200-32272A878719}"/>
              </a:ext>
            </a:extLst>
          </p:cNvPr>
          <p:cNvGrpSpPr/>
          <p:nvPr/>
        </p:nvGrpSpPr>
        <p:grpSpPr>
          <a:xfrm>
            <a:off x="1387887" y="2724150"/>
            <a:ext cx="2955513" cy="1984348"/>
            <a:chOff x="1752600" y="3076355"/>
            <a:chExt cx="2743200" cy="1910569"/>
          </a:xfrm>
        </p:grpSpPr>
        <p:pic>
          <p:nvPicPr>
            <p:cNvPr id="20" name="Picture 2" descr="Russell's two-dimensional model of valence and arousal and the mapping... |  Download Scientific Diagram">
              <a:extLst>
                <a:ext uri="{FF2B5EF4-FFF2-40B4-BE49-F238E27FC236}">
                  <a16:creationId xmlns:a16="http://schemas.microsoft.com/office/drawing/2014/main" id="{A77E4752-E3A5-954B-D2BF-731F8666EB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2600" y="3076355"/>
              <a:ext cx="2743200" cy="19105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128DB3C-DAF1-4670-3E4C-84310B67AE5B}"/>
                </a:ext>
              </a:extLst>
            </p:cNvPr>
            <p:cNvSpPr txBox="1"/>
            <p:nvPr/>
          </p:nvSpPr>
          <p:spPr>
            <a:xfrm>
              <a:off x="3226498" y="3497995"/>
              <a:ext cx="533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b="0" i="0" dirty="0">
                  <a:solidFill>
                    <a:srgbClr val="E8E6E3"/>
                  </a:solidFill>
                  <a:effectLst/>
                  <a:latin typeface="Apple Color Emoji"/>
                </a:rPr>
                <a:t>😄</a:t>
              </a:r>
              <a:endParaRPr lang="ko-KR" alt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3EFCD89-F2CF-4B5D-4999-9378710CF10F}"/>
                </a:ext>
              </a:extLst>
            </p:cNvPr>
            <p:cNvSpPr txBox="1"/>
            <p:nvPr/>
          </p:nvSpPr>
          <p:spPr>
            <a:xfrm>
              <a:off x="2590800" y="3497995"/>
              <a:ext cx="457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b="0" i="0" dirty="0">
                  <a:solidFill>
                    <a:srgbClr val="E8E6E3"/>
                  </a:solidFill>
                  <a:effectLst/>
                  <a:latin typeface="Apple Color Emoji"/>
                </a:rPr>
                <a:t>😠</a:t>
              </a:r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B9EDC34-4D2F-096F-EABD-858C1AB0C606}"/>
                </a:ext>
              </a:extLst>
            </p:cNvPr>
            <p:cNvSpPr txBox="1"/>
            <p:nvPr/>
          </p:nvSpPr>
          <p:spPr>
            <a:xfrm>
              <a:off x="2590800" y="4208477"/>
              <a:ext cx="609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b="0" i="0" dirty="0">
                  <a:solidFill>
                    <a:srgbClr val="E8E6E3"/>
                  </a:solidFill>
                  <a:effectLst/>
                  <a:latin typeface="Apple Color Emoji"/>
                </a:rPr>
                <a:t>😢</a:t>
              </a:r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B649198-6BC0-3BCE-B37A-829F46604533}"/>
                </a:ext>
              </a:extLst>
            </p:cNvPr>
            <p:cNvSpPr txBox="1"/>
            <p:nvPr/>
          </p:nvSpPr>
          <p:spPr>
            <a:xfrm>
              <a:off x="3215347" y="4236708"/>
              <a:ext cx="5241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b="0" i="0" dirty="0">
                  <a:solidFill>
                    <a:srgbClr val="E8E6E3"/>
                  </a:solidFill>
                  <a:effectLst/>
                  <a:latin typeface="Apple Color Emoji"/>
                </a:rPr>
                <a:t>😌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58031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8F4AC-F964-F63B-A2F0-C96EEE88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B966084-BDE7-B432-C36C-843640238C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2691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개요</a:t>
            </a:r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445599-D7B8-5AB5-BD82-42EEE0C8102F}"/>
              </a:ext>
            </a:extLst>
          </p:cNvPr>
          <p:cNvSpPr txBox="1"/>
          <p:nvPr/>
        </p:nvSpPr>
        <p:spPr>
          <a:xfrm>
            <a:off x="1752600" y="935023"/>
            <a:ext cx="670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4️⃣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실험 계획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8" name="Picture 4" descr="The VAD (Valence-Arousal-Dominance) model spanned across the six basic... |  Download Scientific Diagram">
            <a:extLst>
              <a:ext uri="{FF2B5EF4-FFF2-40B4-BE49-F238E27FC236}">
                <a16:creationId xmlns:a16="http://schemas.microsoft.com/office/drawing/2014/main" id="{0C73AD3C-0DA2-03BF-8B20-BB95294B8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687" y="2633440"/>
            <a:ext cx="2955513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3A2765-43E0-6899-B077-A4FAD7322FAC}"/>
              </a:ext>
            </a:extLst>
          </p:cNvPr>
          <p:cNvSpPr txBox="1"/>
          <p:nvPr/>
        </p:nvSpPr>
        <p:spPr>
          <a:xfrm>
            <a:off x="4214429" y="2995657"/>
            <a:ext cx="48990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VAD mapping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b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감정을</a:t>
            </a:r>
            <a:b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Valence(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정서의 극성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), Arousal(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정서의 각성도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), Dominance(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정서의 통제력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척도의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차원 벡터로 매핑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E4D8AAB-D5D5-803A-B831-D642D74E5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886302"/>
              </p:ext>
            </p:extLst>
          </p:nvPr>
        </p:nvGraphicFramePr>
        <p:xfrm>
          <a:off x="1676400" y="1376378"/>
          <a:ext cx="7086600" cy="1102360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689456789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09699723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63174776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5110862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138045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684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감정 태그 매핑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VA mapping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(Valence-Arousal)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VAD mapping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(Valence-Arousal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-Dominance)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7951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CAB6DF9-60DF-0A3A-0FC1-4E99E7DC720B}"/>
              </a:ext>
            </a:extLst>
          </p:cNvPr>
          <p:cNvSpPr txBox="1"/>
          <p:nvPr/>
        </p:nvSpPr>
        <p:spPr>
          <a:xfrm>
            <a:off x="1320980" y="4699304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참고 논문</a:t>
            </a:r>
            <a:r>
              <a:rPr lang="en-US" altLang="ko-KR" sz="1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Obtaining Reliable Human Ratings of Valence, Arousal, and Dominance for 20,000 English Words. (2018)</a:t>
            </a:r>
          </a:p>
        </p:txBody>
      </p:sp>
    </p:spTree>
    <p:extLst>
      <p:ext uri="{BB962C8B-B14F-4D97-AF65-F5344CB8AC3E}">
        <p14:creationId xmlns:p14="http://schemas.microsoft.com/office/powerpoint/2010/main" val="796160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C4726-FB1C-7EBA-C980-31FB3839B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94C3704-DBED-43B6-F0B3-59354E292221}"/>
              </a:ext>
            </a:extLst>
          </p:cNvPr>
          <p:cNvSpPr txBox="1"/>
          <p:nvPr/>
        </p:nvSpPr>
        <p:spPr>
          <a:xfrm>
            <a:off x="1579913" y="1529048"/>
            <a:ext cx="58932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기존의 </a:t>
            </a:r>
            <a:r>
              <a:rPr lang="en-US" altLang="ko-KR" sz="14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VA(Valence-Arousal)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감정의 긍정적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부정적 정도를 표현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감정의 강도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활성화 수준을 표현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VAD(Valence-Arousal-Dominance)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 D: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감정의 통제력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지배력 수준에 대한 축을 추가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6602F47-590E-CFAE-3F36-40D7CE1AC6DE}"/>
              </a:ext>
            </a:extLst>
          </p:cNvPr>
          <p:cNvGrpSpPr/>
          <p:nvPr/>
        </p:nvGrpSpPr>
        <p:grpSpPr>
          <a:xfrm>
            <a:off x="2667000" y="3244522"/>
            <a:ext cx="5056940" cy="447105"/>
            <a:chOff x="1929457" y="3802006"/>
            <a:chExt cx="5056940" cy="44710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B56AD32-E637-0D6E-005A-F4FBD6F60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884"/>
            <a:stretch/>
          </p:blipFill>
          <p:spPr>
            <a:xfrm>
              <a:off x="1929457" y="3802006"/>
              <a:ext cx="5056940" cy="168142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52953F4-1620-DD66-D671-4AD78641A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29457" y="4041084"/>
              <a:ext cx="4953000" cy="208027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843F5B4-D6F8-1441-B075-C0386D66C4E9}"/>
              </a:ext>
            </a:extLst>
          </p:cNvPr>
          <p:cNvSpPr txBox="1"/>
          <p:nvPr/>
        </p:nvSpPr>
        <p:spPr>
          <a:xfrm>
            <a:off x="1579913" y="3887345"/>
            <a:ext cx="7567804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00B05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sz="1400" b="1" dirty="0">
                <a:solidFill>
                  <a:srgbClr val="00B05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solidFill>
                  <a:srgbClr val="00B05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분노</a:t>
            </a:r>
            <a:r>
              <a:rPr lang="en-US" altLang="ko-KR" sz="1400" b="1" dirty="0">
                <a:solidFill>
                  <a:srgbClr val="00B05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(anger)</a:t>
            </a:r>
            <a:r>
              <a:rPr lang="en-US" altLang="ko-KR" sz="14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b="1" dirty="0">
                <a:solidFill>
                  <a:srgbClr val="00B05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공포</a:t>
            </a:r>
            <a:r>
              <a:rPr lang="en-US" altLang="ko-KR" sz="1400" b="1" dirty="0">
                <a:solidFill>
                  <a:srgbClr val="00B05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(fear</a:t>
            </a:r>
            <a:r>
              <a:rPr lang="en-US" altLang="ko-KR" sz="14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다른 감정이지만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VA(Valence-Arousal)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유사한 값을 가져 비슷한 감정으로 분류</a:t>
            </a:r>
            <a:endParaRPr lang="en-US" altLang="ko-KR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그러나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dominance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축의 값을 추가하면 다르게 분류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👉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VAD mapping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통해 복잡하고 미묘한 감정 표현을 보다 정확하게 비교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분류 가능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pic>
        <p:nvPicPr>
          <p:cNvPr id="13" name="Picture 2" descr="Russell's two-dimensional model of valence and arousal and the mapping... |  Download Scientific Diagram">
            <a:extLst>
              <a:ext uri="{FF2B5EF4-FFF2-40B4-BE49-F238E27FC236}">
                <a16:creationId xmlns:a16="http://schemas.microsoft.com/office/drawing/2014/main" id="{CFD8760B-4047-8C38-A39A-CF7F208BE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31964"/>
            <a:ext cx="2057400" cy="1243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The VAD (Valence-Arousal-Dominance) model spanned across the six basic... |  Download Scientific Diagram">
            <a:extLst>
              <a:ext uri="{FF2B5EF4-FFF2-40B4-BE49-F238E27FC236}">
                <a16:creationId xmlns:a16="http://schemas.microsoft.com/office/drawing/2014/main" id="{92BCE0EF-DA0F-6A4C-E9D5-1542891F1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926" y="200431"/>
            <a:ext cx="2161957" cy="149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2533343D-067B-D998-BC5A-AE81A39E224B}"/>
              </a:ext>
            </a:extLst>
          </p:cNvPr>
          <p:cNvSpPr/>
          <p:nvPr/>
        </p:nvSpPr>
        <p:spPr>
          <a:xfrm rot="16200000">
            <a:off x="6373241" y="682741"/>
            <a:ext cx="194644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396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1D9E2-32B6-6E75-1AD9-938B7151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C118AF-DCF6-88DF-B68C-448FA3D2C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2691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개요</a:t>
            </a:r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5C7088-1C05-0D75-84CA-6349B0601859}"/>
              </a:ext>
            </a:extLst>
          </p:cNvPr>
          <p:cNvSpPr txBox="1"/>
          <p:nvPr/>
        </p:nvSpPr>
        <p:spPr>
          <a:xfrm>
            <a:off x="1752600" y="935023"/>
            <a:ext cx="670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4️⃣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실험 계획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82A4714-CD73-FF7D-9CB7-C6E1C9EB9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486615"/>
              </p:ext>
            </p:extLst>
          </p:nvPr>
        </p:nvGraphicFramePr>
        <p:xfrm>
          <a:off x="1676400" y="1809750"/>
          <a:ext cx="7086600" cy="1041400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689456789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09699723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63174776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5110862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138045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684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MLP </a:t>
                      </a:r>
                      <a:r>
                        <a:rPr lang="ko-KR" altLang="en-US" sz="1400" dirty="0"/>
                        <a:t>모델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기본 </a:t>
                      </a:r>
                      <a:r>
                        <a:rPr lang="en-US" altLang="ko-KR" sz="1400" dirty="0"/>
                        <a:t>MLP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수정 </a:t>
                      </a:r>
                      <a:r>
                        <a:rPr lang="en-US" altLang="ko-KR" sz="1400" dirty="0"/>
                        <a:t>MLP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leakyrelu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사용</a:t>
                      </a:r>
                      <a:r>
                        <a:rPr lang="en-US" altLang="ko-KR" sz="1200" dirty="0"/>
                        <a:t>, dropout</a:t>
                      </a:r>
                      <a:r>
                        <a:rPr lang="ko-KR" altLang="en-US" sz="1200" dirty="0"/>
                        <a:t> 추가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56010"/>
                  </a:ext>
                </a:extLst>
              </a:tr>
            </a:tbl>
          </a:graphicData>
        </a:graphic>
      </p:graphicFrame>
      <p:pic>
        <p:nvPicPr>
          <p:cNvPr id="2050" name="Picture 2" descr="PyTorch] MLP 모델 향상시키기">
            <a:extLst>
              <a:ext uri="{FF2B5EF4-FFF2-40B4-BE49-F238E27FC236}">
                <a16:creationId xmlns:a16="http://schemas.microsoft.com/office/drawing/2014/main" id="{C212B6C8-D18E-2E03-E28E-C042528C55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5" t="20387" r="57451" b="44215"/>
          <a:stretch/>
        </p:blipFill>
        <p:spPr bwMode="auto">
          <a:xfrm>
            <a:off x="1754459" y="3377015"/>
            <a:ext cx="1676400" cy="98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D9287D-A52F-C0F9-B0AC-1211FCD0D19D}"/>
              </a:ext>
            </a:extLst>
          </p:cNvPr>
          <p:cNvSpPr txBox="1"/>
          <p:nvPr/>
        </p:nvSpPr>
        <p:spPr>
          <a:xfrm>
            <a:off x="3657600" y="3257550"/>
            <a:ext cx="533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Linear,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Batch Norm,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ReLU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단순한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MLP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 구조에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knock-out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현상 방지를 위한 </a:t>
            </a:r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leakyReLU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활성화함수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교체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과적합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방지를 위한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dropout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layer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이를 통해 더 복잡한 특징을 학습할 수 있을 것으로 기대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8996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371DD-0C43-C0CA-F343-D23CFA86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3236C0-E47C-02F8-D38C-A07CE58633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2691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개요</a:t>
            </a:r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BD116-A92C-C57B-5261-C4A11D31F4DC}"/>
              </a:ext>
            </a:extLst>
          </p:cNvPr>
          <p:cNvSpPr txBox="1"/>
          <p:nvPr/>
        </p:nvSpPr>
        <p:spPr>
          <a:xfrm>
            <a:off x="1752600" y="935023"/>
            <a:ext cx="670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4️⃣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실험 계획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A5DD67E-EF23-E394-06A2-B9BF00DE5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043375"/>
              </p:ext>
            </p:extLst>
          </p:nvPr>
        </p:nvGraphicFramePr>
        <p:xfrm>
          <a:off x="1676400" y="1352550"/>
          <a:ext cx="7086600" cy="2291080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689456789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09699723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63174776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5110862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138045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684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(1)</a:t>
                      </a:r>
                    </a:p>
                    <a:p>
                      <a:pPr latinLnBrk="1"/>
                      <a:r>
                        <a:rPr lang="ko-KR" altLang="en-US" sz="1400" dirty="0"/>
                        <a:t>가중치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(0.1, 0.45, 0.45)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(0.5, 0.25, 0.25)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(0.7, 0.15, 0.15)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(0.9, 0.05, 0.05)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728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(2)</a:t>
                      </a:r>
                    </a:p>
                    <a:p>
                      <a:pPr latinLnBrk="1"/>
                      <a:r>
                        <a:rPr lang="ko-KR" altLang="en-US" sz="1400" dirty="0"/>
                        <a:t>감정 태그 매핑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VA mapping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(Valence-Arousal)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VAD mapping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(Valence-Arousal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-Dominance)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0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(3)</a:t>
                      </a:r>
                    </a:p>
                    <a:p>
                      <a:pPr latinLnBrk="1"/>
                      <a:r>
                        <a:rPr lang="en-US" altLang="ko-KR" sz="1400" dirty="0"/>
                        <a:t>MLP </a:t>
                      </a:r>
                      <a:r>
                        <a:rPr lang="ko-KR" altLang="en-US" sz="1400" dirty="0"/>
                        <a:t>모델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기본 </a:t>
                      </a:r>
                      <a:r>
                        <a:rPr lang="en-US" altLang="ko-KR" sz="1400" dirty="0"/>
                        <a:t>MLP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수정 </a:t>
                      </a:r>
                      <a:r>
                        <a:rPr lang="en-US" altLang="ko-KR" sz="1400" dirty="0"/>
                        <a:t>MLP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leakyrelu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사용</a:t>
                      </a:r>
                      <a:r>
                        <a:rPr lang="en-US" altLang="ko-KR" sz="1200" dirty="0"/>
                        <a:t>, dropout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layer </a:t>
                      </a:r>
                      <a:r>
                        <a:rPr lang="ko-KR" altLang="en-US" sz="1200" dirty="0"/>
                        <a:t>추가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4835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6C8E4F5-96D6-EE02-9F5D-EBB982F4FBB7}"/>
              </a:ext>
            </a:extLst>
          </p:cNvPr>
          <p:cNvSpPr txBox="1"/>
          <p:nvPr/>
        </p:nvSpPr>
        <p:spPr>
          <a:xfrm>
            <a:off x="1447800" y="3763984"/>
            <a:ext cx="76962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👉 요인 설정에 따른 성능의 변화 양상 관찰</a:t>
            </a:r>
          </a:p>
          <a:p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RAVDESS – </a:t>
            </a:r>
            <a:r>
              <a:rPr lang="ko-KR" altLang="en-US" sz="1400" dirty="0"/>
              <a:t>배우 </a:t>
            </a:r>
            <a:r>
              <a:rPr lang="en-US" altLang="ko-KR" sz="1400" dirty="0"/>
              <a:t>24</a:t>
            </a:r>
            <a:r>
              <a:rPr lang="ko-KR" altLang="en-US" sz="1400" dirty="0"/>
              <a:t>인이 감정 표현 등 일관하여 같은 단어</a:t>
            </a:r>
            <a:r>
              <a:rPr lang="en-US" altLang="ko-KR" sz="1400" dirty="0"/>
              <a:t>/</a:t>
            </a:r>
            <a:r>
              <a:rPr lang="ko-KR" altLang="en-US" sz="1400" dirty="0"/>
              <a:t>문장으로 연기한 </a:t>
            </a:r>
            <a:r>
              <a:rPr lang="en-US" altLang="ko-KR" sz="1400" dirty="0"/>
              <a:t>speech </a:t>
            </a:r>
            <a:r>
              <a:rPr lang="ko-KR" altLang="en-US" sz="1400" dirty="0"/>
              <a:t>데이터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(music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데이터의 경우 사전학습한 모델 사용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907256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989E2-8158-23D6-C764-C73DA6CB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출력 이미지">
            <a:extLst>
              <a:ext uri="{FF2B5EF4-FFF2-40B4-BE49-F238E27FC236}">
                <a16:creationId xmlns:a16="http://schemas.microsoft.com/office/drawing/2014/main" id="{C85ACA79-1A43-E01D-2F08-842F9E947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491" y="654883"/>
            <a:ext cx="4072262" cy="242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>
            <a:extLst>
              <a:ext uri="{FF2B5EF4-FFF2-40B4-BE49-F238E27FC236}">
                <a16:creationId xmlns:a16="http://schemas.microsoft.com/office/drawing/2014/main" id="{C0E481BE-EC34-CA5C-38F9-9D80B42527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63B9F126-4AC4-7022-7A1E-4653C3CDB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52056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2. </a:t>
            </a:r>
            <a:r>
              <a:rPr lang="ko-KR" altLang="en-US" b="1" dirty="0">
                <a:latin typeface="+mj-ea"/>
                <a:ea typeface="+mj-ea"/>
              </a:rPr>
              <a:t>실험 결과 </a:t>
            </a:r>
            <a:r>
              <a:rPr lang="en-US" altLang="ko-KR" b="1" dirty="0">
                <a:latin typeface="+mj-ea"/>
                <a:ea typeface="+mj-ea"/>
              </a:rPr>
              <a:t>– (1) </a:t>
            </a:r>
            <a:r>
              <a:rPr lang="ko-KR" altLang="en-US" b="1" dirty="0">
                <a:latin typeface="+mj-ea"/>
                <a:ea typeface="+mj-ea"/>
              </a:rPr>
              <a:t>가</a:t>
            </a:r>
            <a:r>
              <a:rPr lang="ko-KR" altLang="en-US" dirty="0">
                <a:latin typeface="+mj-ea"/>
              </a:rPr>
              <a:t>중치 설정</a:t>
            </a:r>
            <a:endParaRPr lang="en-US" altLang="ko-KR" b="1" dirty="0">
              <a:latin typeface="+mj-ea"/>
              <a:ea typeface="+mj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76E8595-93B3-F534-AAB5-65E9DBA55E2D}"/>
              </a:ext>
            </a:extLst>
          </p:cNvPr>
          <p:cNvGrpSpPr/>
          <p:nvPr/>
        </p:nvGrpSpPr>
        <p:grpSpPr>
          <a:xfrm>
            <a:off x="5663329" y="1428750"/>
            <a:ext cx="3225647" cy="1502801"/>
            <a:chOff x="5791200" y="3171839"/>
            <a:chExt cx="3225647" cy="150280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432007F-719D-F50C-47BD-8C7B1CC55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3256"/>
            <a:stretch/>
          </p:blipFill>
          <p:spPr>
            <a:xfrm>
              <a:off x="5791200" y="3171839"/>
              <a:ext cx="1752600" cy="150280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F09B7EF-2534-2F76-60E5-87117B2F9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163" r="24476"/>
            <a:stretch/>
          </p:blipFill>
          <p:spPr>
            <a:xfrm>
              <a:off x="7420364" y="3171839"/>
              <a:ext cx="1596483" cy="1502801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8C9EB55-E9B2-8C2A-017A-661CAF4ED8C7}"/>
              </a:ext>
            </a:extLst>
          </p:cNvPr>
          <p:cNvGrpSpPr/>
          <p:nvPr/>
        </p:nvGrpSpPr>
        <p:grpSpPr>
          <a:xfrm>
            <a:off x="1816798" y="3086204"/>
            <a:ext cx="4965002" cy="1517818"/>
            <a:chOff x="1537034" y="986314"/>
            <a:chExt cx="7242789" cy="2563221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8418DB5-87C3-DADD-DBF9-EF11C5936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37034" y="986314"/>
              <a:ext cx="2327989" cy="2563221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316F925-9E65-5A8A-37C3-55A6A2D36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40677" y="986314"/>
              <a:ext cx="2408695" cy="2543392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173FDDE-5706-4553-7F96-794E6943C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51939" y="1039836"/>
              <a:ext cx="2627884" cy="243634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73A966B-5467-2003-B190-E6FCEF1C1424}"/>
              </a:ext>
            </a:extLst>
          </p:cNvPr>
          <p:cNvSpPr txBox="1"/>
          <p:nvPr/>
        </p:nvSpPr>
        <p:spPr>
          <a:xfrm>
            <a:off x="1585491" y="4746932"/>
            <a:ext cx="55011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✅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가중치 조정 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성능과 유의미한 차이 없음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1865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197C8-BC45-1DCE-FC24-276302A7F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85F0B46-0DDC-DB53-5A55-749D84380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1"/>
          <a:stretch/>
        </p:blipFill>
        <p:spPr>
          <a:xfrm>
            <a:off x="1309234" y="1068949"/>
            <a:ext cx="5207724" cy="3276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BF4EB5-D1D3-8D71-706A-EDA0252193D7}"/>
              </a:ext>
            </a:extLst>
          </p:cNvPr>
          <p:cNvSpPr txBox="1"/>
          <p:nvPr/>
        </p:nvSpPr>
        <p:spPr>
          <a:xfrm>
            <a:off x="1576197" y="4705350"/>
            <a:ext cx="4191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✅ 오차 범위 이상의 성능 향상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091B139-99BA-2FAC-3623-37EB199D73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5739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2. </a:t>
            </a:r>
            <a:r>
              <a:rPr lang="ko-KR" altLang="en-US" b="1" dirty="0">
                <a:latin typeface="+mj-ea"/>
                <a:ea typeface="+mj-ea"/>
              </a:rPr>
              <a:t>실험 결과 </a:t>
            </a:r>
            <a:r>
              <a:rPr lang="en-US" altLang="ko-KR" b="1" dirty="0">
                <a:latin typeface="+mj-ea"/>
                <a:ea typeface="+mj-ea"/>
              </a:rPr>
              <a:t>– (2) VAD </a:t>
            </a:r>
            <a:r>
              <a:rPr lang="ko-KR" altLang="en-US" b="1" dirty="0">
                <a:latin typeface="+mj-ea"/>
                <a:ea typeface="+mj-ea"/>
              </a:rPr>
              <a:t>감정 태그 매핑</a:t>
            </a:r>
            <a:endParaRPr lang="en-US" altLang="ko-KR" b="1" dirty="0">
              <a:latin typeface="+mj-ea"/>
              <a:ea typeface="+mj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9FE11C5-CF8D-BC5D-B90A-6D91775D34DB}"/>
              </a:ext>
            </a:extLst>
          </p:cNvPr>
          <p:cNvGrpSpPr/>
          <p:nvPr/>
        </p:nvGrpSpPr>
        <p:grpSpPr>
          <a:xfrm>
            <a:off x="5702376" y="2876550"/>
            <a:ext cx="3225647" cy="1502801"/>
            <a:chOff x="5791200" y="3171839"/>
            <a:chExt cx="3225647" cy="1502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5AE49CA-F596-DC64-02B5-9DD5EC641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3256"/>
            <a:stretch/>
          </p:blipFill>
          <p:spPr>
            <a:xfrm>
              <a:off x="5791200" y="3171839"/>
              <a:ext cx="1752600" cy="150280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3EDDA57-1857-DFA6-9818-8BAED8804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163" r="24476"/>
            <a:stretch/>
          </p:blipFill>
          <p:spPr>
            <a:xfrm>
              <a:off x="7420364" y="3171839"/>
              <a:ext cx="1596483" cy="15028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0136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606AE-C889-70A3-CD69-037097EC4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B3F4805-AEF0-9CB1-4945-45EB2F5DD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1" y="684657"/>
            <a:ext cx="4824603" cy="9930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8D25CE-77B0-1686-30BA-A937C0AE2718}"/>
              </a:ext>
            </a:extLst>
          </p:cNvPr>
          <p:cNvSpPr txBox="1"/>
          <p:nvPr/>
        </p:nvSpPr>
        <p:spPr>
          <a:xfrm>
            <a:off x="1905001" y="1673561"/>
            <a:ext cx="51294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 MLP layer 8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개로 조정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DB7652A-3CFD-FB2B-BD4F-29C7BD34A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1" y="2057482"/>
            <a:ext cx="4887001" cy="971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DCB232-9FF4-BFED-4A04-F0E3671741EE}"/>
              </a:ext>
            </a:extLst>
          </p:cNvPr>
          <p:cNvSpPr txBox="1"/>
          <p:nvPr/>
        </p:nvSpPr>
        <p:spPr>
          <a:xfrm>
            <a:off x="1905000" y="3028950"/>
            <a:ext cx="51294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MLP layer 4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leakyReLU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 적용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0F8F7EF-B2C2-D9F6-8668-2887116BBE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443998"/>
            <a:ext cx="4397045" cy="8949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FE1A2A-B554-335B-8E38-3A8147B625B6}"/>
              </a:ext>
            </a:extLst>
          </p:cNvPr>
          <p:cNvSpPr txBox="1"/>
          <p:nvPr/>
        </p:nvSpPr>
        <p:spPr>
          <a:xfrm>
            <a:off x="1904999" y="4380149"/>
            <a:ext cx="6477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MLP layer 4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leakyReLU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 dropout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D3C661D8-CEBF-1C42-17AD-D74B843C3E1C}"/>
              </a:ext>
            </a:extLst>
          </p:cNvPr>
          <p:cNvSpPr txBox="1">
            <a:spLocks/>
          </p:cNvSpPr>
          <p:nvPr/>
        </p:nvSpPr>
        <p:spPr>
          <a:xfrm>
            <a:off x="1576197" y="295401"/>
            <a:ext cx="5739003" cy="321242"/>
          </a:xfrm>
          <a:prstGeom prst="rect">
            <a:avLst/>
          </a:prstGeom>
        </p:spPr>
        <p:txBody>
          <a:bodyPr spcFirstLastPara="1" vert="horz" wrap="square" lIns="0" tIns="13335" rIns="0" bIns="0" rtlCol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 b="1" i="0">
                <a:solidFill>
                  <a:schemeClr val="tx1"/>
                </a:solidFill>
                <a:latin typeface="맑은 고딕"/>
                <a:ea typeface="+mj-ea"/>
                <a:cs typeface="맑은 고딕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ko-KR">
                <a:latin typeface="+mj-ea"/>
              </a:rPr>
              <a:t>2. </a:t>
            </a:r>
            <a:r>
              <a:rPr lang="ko-KR" altLang="en-US">
                <a:latin typeface="+mj-ea"/>
              </a:rPr>
              <a:t>실험 결과 </a:t>
            </a:r>
            <a:r>
              <a:rPr lang="en-US" altLang="ko-KR">
                <a:latin typeface="+mj-ea"/>
              </a:rPr>
              <a:t>– (3) MLP </a:t>
            </a:r>
            <a:r>
              <a:rPr lang="ko-KR" altLang="en-US">
                <a:latin typeface="+mj-ea"/>
              </a:rPr>
              <a:t>모델 수정</a:t>
            </a:r>
            <a:endParaRPr lang="en-US" altLang="ko-KR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F560D4-6689-ACAD-1303-BEAC3178CD27}"/>
              </a:ext>
            </a:extLst>
          </p:cNvPr>
          <p:cNvSpPr txBox="1"/>
          <p:nvPr/>
        </p:nvSpPr>
        <p:spPr>
          <a:xfrm>
            <a:off x="1576196" y="4721483"/>
            <a:ext cx="7567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✅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leakyReLU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적용 시 일부 성능 향상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단순히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layer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 시 성능 개선되지 않음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3911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2AA5-593F-0CC4-90EC-D9D7CFCD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54EA53-1550-E2B5-1C6C-8E79DA4489BB}"/>
              </a:ext>
            </a:extLst>
          </p:cNvPr>
          <p:cNvSpPr txBox="1"/>
          <p:nvPr/>
        </p:nvSpPr>
        <p:spPr>
          <a:xfrm>
            <a:off x="1828800" y="1581150"/>
            <a:ext cx="64008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dirty="0">
                <a:latin typeface="+mn-ea"/>
                <a:ea typeface="+mn-ea"/>
              </a:rPr>
              <a:t>SP </a:t>
            </a:r>
            <a:r>
              <a:rPr lang="ko-KR" altLang="en-US" sz="1600" dirty="0">
                <a:latin typeface="+mn-ea"/>
                <a:ea typeface="+mn-ea"/>
              </a:rPr>
              <a:t>손실 사용 시 가중치의 설정을 통해서 학습 성능을 개선할 수 없음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  <a:br>
              <a:rPr lang="en-US" altLang="ko-KR" sz="1600" dirty="0">
                <a:latin typeface="+mn-ea"/>
                <a:ea typeface="+mn-ea"/>
              </a:rPr>
            </a:br>
            <a:r>
              <a:rPr lang="en-US" altLang="ko-KR" sz="1600" dirty="0">
                <a:latin typeface="+mn-ea"/>
                <a:ea typeface="+mn-ea"/>
              </a:rPr>
              <a:t>- Encoder</a:t>
            </a:r>
            <a:r>
              <a:rPr lang="ko-KR" altLang="en-US" sz="1600" dirty="0">
                <a:latin typeface="+mn-ea"/>
                <a:ea typeface="+mn-ea"/>
              </a:rPr>
              <a:t>의</a:t>
            </a:r>
            <a:r>
              <a:rPr lang="en-US" altLang="ko-KR" sz="1600" dirty="0">
                <a:latin typeface="+mn-ea"/>
                <a:ea typeface="+mn-ea"/>
              </a:rPr>
              <a:t> embedding </a:t>
            </a:r>
            <a:r>
              <a:rPr lang="ko-KR" altLang="en-US" sz="1600" dirty="0">
                <a:latin typeface="+mn-ea"/>
                <a:ea typeface="+mn-ea"/>
              </a:rPr>
              <a:t>과정에서 구조 보전이 제대로 반영되지 않았을 것</a:t>
            </a:r>
            <a:endParaRPr lang="en-US" altLang="ko-KR" sz="1600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endParaRPr lang="en-US" altLang="ko-KR" sz="1600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r>
              <a:rPr lang="en-US" altLang="ko-KR" sz="1600" dirty="0">
                <a:latin typeface="+mn-ea"/>
                <a:ea typeface="+mn-ea"/>
              </a:rPr>
              <a:t>VAD </a:t>
            </a:r>
            <a:r>
              <a:rPr lang="ko-KR" altLang="en-US" sz="1600" dirty="0">
                <a:latin typeface="+mn-ea"/>
                <a:ea typeface="+mn-ea"/>
              </a:rPr>
              <a:t>매핑을 통해 감정의 보다 정확한 분류를 할 수 있고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결과적으로 </a:t>
            </a:r>
            <a:r>
              <a:rPr lang="en-US" altLang="ko-KR" sz="1600" dirty="0">
                <a:latin typeface="+mn-ea"/>
                <a:ea typeface="+mn-ea"/>
              </a:rPr>
              <a:t>speech-to-music </a:t>
            </a:r>
            <a:r>
              <a:rPr lang="ko-KR" altLang="en-US" sz="1600" dirty="0">
                <a:latin typeface="+mn-ea"/>
                <a:ea typeface="+mn-ea"/>
              </a:rPr>
              <a:t>과제의 성능 개선이 가능함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600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r>
              <a:rPr lang="en-US" altLang="ko-KR" sz="1600" dirty="0">
                <a:latin typeface="+mn-ea"/>
                <a:ea typeface="+mn-ea"/>
              </a:rPr>
              <a:t>MLP </a:t>
            </a:r>
            <a:r>
              <a:rPr lang="ko-KR" altLang="en-US" sz="1600" dirty="0">
                <a:latin typeface="+mn-ea"/>
                <a:ea typeface="+mn-ea"/>
              </a:rPr>
              <a:t>모델 수정 시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en-US" altLang="ko-KR" sz="1600" dirty="0" err="1">
                <a:latin typeface="+mn-ea"/>
                <a:ea typeface="+mn-ea"/>
              </a:rPr>
              <a:t>leakyReLU</a:t>
            </a:r>
            <a:r>
              <a:rPr lang="ko-KR" altLang="en-US" sz="1600" dirty="0">
                <a:latin typeface="+mn-ea"/>
                <a:ea typeface="+mn-ea"/>
              </a:rPr>
              <a:t>의 사용은 효과적일 수 있지만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이외 오히려 복잡한 구조는 성능 개선에 도움이 되지 않을 수 있음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C75A8FA3-A7C8-5D7A-1B1B-CC22BE075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55866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3. </a:t>
            </a:r>
            <a:r>
              <a:rPr lang="ko-KR" altLang="en-US" b="1" dirty="0">
                <a:latin typeface="+mj-ea"/>
                <a:ea typeface="+mj-ea"/>
              </a:rPr>
              <a:t>결과 분석</a:t>
            </a:r>
            <a:endParaRPr lang="en-US" altLang="ko-KR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71867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80455657-0C10-776D-48E5-64135E70D004}"/>
              </a:ext>
            </a:extLst>
          </p:cNvPr>
          <p:cNvSpPr txBox="1"/>
          <p:nvPr/>
        </p:nvSpPr>
        <p:spPr>
          <a:xfrm>
            <a:off x="1993079" y="2340932"/>
            <a:ext cx="327336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1" dirty="0">
                <a:latin typeface="+mj-ea"/>
                <a:ea typeface="+mj-ea"/>
              </a:rPr>
              <a:t>이상입니다</a:t>
            </a:r>
            <a:r>
              <a:rPr lang="en-US" altLang="ko-KR" sz="28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7AE82D84-8483-4638-175E-B34197DF8C25}"/>
              </a:ext>
            </a:extLst>
          </p:cNvPr>
          <p:cNvSpPr txBox="1"/>
          <p:nvPr/>
        </p:nvSpPr>
        <p:spPr>
          <a:xfrm>
            <a:off x="1181088" y="4774198"/>
            <a:ext cx="3273365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>
                <a:latin typeface="+mj-ea"/>
                <a:ea typeface="+mj-ea"/>
              </a:rPr>
              <a:t>ppt </a:t>
            </a:r>
            <a:r>
              <a:rPr lang="ko-KR" altLang="en-US" sz="1100" dirty="0">
                <a:latin typeface="+mj-ea"/>
                <a:ea typeface="+mj-ea"/>
              </a:rPr>
              <a:t>제작</a:t>
            </a:r>
            <a:r>
              <a:rPr lang="en-US" altLang="ko-KR" sz="1100" dirty="0">
                <a:latin typeface="+mj-ea"/>
                <a:ea typeface="+mj-ea"/>
              </a:rPr>
              <a:t>: </a:t>
            </a:r>
            <a:r>
              <a:rPr lang="ko-KR" altLang="en-US" sz="1100" b="1" dirty="0">
                <a:latin typeface="+mj-ea"/>
                <a:ea typeface="+mj-ea"/>
              </a:rPr>
              <a:t>문주일</a:t>
            </a:r>
            <a:endParaRPr lang="en-US" altLang="ko-KR" sz="1100" b="1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1F7E88-7F44-39E2-ADC6-23817BB85A58}"/>
              </a:ext>
            </a:extLst>
          </p:cNvPr>
          <p:cNvSpPr/>
          <p:nvPr/>
        </p:nvSpPr>
        <p:spPr>
          <a:xfrm>
            <a:off x="2357625" y="89450"/>
            <a:ext cx="2176757" cy="2108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28266D-2B18-E320-6C83-48002D27EF1F}"/>
              </a:ext>
            </a:extLst>
          </p:cNvPr>
          <p:cNvSpPr/>
          <p:nvPr/>
        </p:nvSpPr>
        <p:spPr>
          <a:xfrm>
            <a:off x="3760021" y="193262"/>
            <a:ext cx="2108829" cy="832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8965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1592</TotalTime>
  <Words>1448</Words>
  <Application>Microsoft Office PowerPoint</Application>
  <PresentationFormat>화면 슬라이드 쇼(16:9)</PresentationFormat>
  <Paragraphs>226</Paragraphs>
  <Slides>20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Apple Color Emoji</vt:lpstr>
      <vt:lpstr>맑은 고딕</vt:lpstr>
      <vt:lpstr>Arial</vt:lpstr>
      <vt:lpstr>Calibri</vt:lpstr>
      <vt:lpstr>Cambria Math</vt:lpstr>
      <vt:lpstr>Office Theme</vt:lpstr>
      <vt:lpstr>PowerPoint 프레젠테이션</vt:lpstr>
      <vt:lpstr>PowerPoint 프레젠테이션</vt:lpstr>
      <vt:lpstr>스터디원 소개 및 만남 인증</vt:lpstr>
      <vt:lpstr>1. 프로젝트 개요</vt:lpstr>
      <vt:lpstr>PowerPoint 프레젠테이션</vt:lpstr>
      <vt:lpstr>1. 프로젝트 개요</vt:lpstr>
      <vt:lpstr>1. 프로젝트 개요</vt:lpstr>
      <vt:lpstr>1. 프로젝트 개요</vt:lpstr>
      <vt:lpstr>1. 프로젝트 개요</vt:lpstr>
      <vt:lpstr>1. 프로젝트 개요</vt:lpstr>
      <vt:lpstr>1. 프로젝트 개요</vt:lpstr>
      <vt:lpstr>1. 프로젝트 개요</vt:lpstr>
      <vt:lpstr>PowerPoint 프레젠테이션</vt:lpstr>
      <vt:lpstr>1. 프로젝트 개요</vt:lpstr>
      <vt:lpstr>1. 프로젝트 개요</vt:lpstr>
      <vt:lpstr>2. 실험 결과 – (1) 가중치 설정</vt:lpstr>
      <vt:lpstr>2. 실험 결과 – (2) VAD 감정 태그 매핑</vt:lpstr>
      <vt:lpstr>PowerPoint 프레젠테이션</vt:lpstr>
      <vt:lpstr>3. 결과 분석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조효원</dc:creator>
  <cp:lastModifiedBy>Juil Moon</cp:lastModifiedBy>
  <cp:revision>291</cp:revision>
  <dcterms:created xsi:type="dcterms:W3CDTF">2024-09-13T12:33:40Z</dcterms:created>
  <dcterms:modified xsi:type="dcterms:W3CDTF">2024-11-25T13:44:25Z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2024-09-13T00:00:00Z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2024-09-13T00:00:00Z</vt:filetime>
  </property>
</Properties>
</file>